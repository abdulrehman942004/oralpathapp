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96" d="100"/>
          <a:sy n="96" d="100"/>
        </p:scale>
        <p:origin x="63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589388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abdulrehman942004.github.io/OralPathApp/"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hyperlink" Target="https://abdulrehman942004.github.io/OralPathApp/" TargetMode="External"/><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40"/>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19D3C5"/>
          </a:solidFill>
          <a:ln w="12700">
            <a:solidFill>
              <a:srgbClr val="19D3C5"/>
            </a:solidFill>
            <a:prstDash val="solid"/>
          </a:ln>
        </p:spPr>
      </p:sp>
      <p:sp>
        <p:nvSpPr>
          <p:cNvPr id="3" name="Text 1"/>
          <p:cNvSpPr/>
          <p:nvPr/>
        </p:nvSpPr>
        <p:spPr>
          <a:xfrm>
            <a:off x="457200" y="731520"/>
            <a:ext cx="8412480" cy="1005840"/>
          </a:xfrm>
          <a:prstGeom prst="rect">
            <a:avLst/>
          </a:prstGeom>
          <a:noFill/>
          <a:ln/>
        </p:spPr>
        <p:txBody>
          <a:bodyPr wrap="square" lIns="0" tIns="0" rIns="0" bIns="0" rtlCol="0" anchor="ctr"/>
          <a:lstStyle/>
          <a:p>
            <a:pPr marL="0" indent="0" algn="l">
              <a:buNone/>
            </a:pPr>
            <a:r>
              <a:rPr lang="en-US" sz="5200" b="1" dirty="0">
                <a:solidFill>
                  <a:srgbClr val="19D3C5"/>
                </a:solidFill>
                <a:latin typeface="Cambria" pitchFamily="34" charset="0"/>
                <a:ea typeface="Cambria" pitchFamily="34" charset="-122"/>
                <a:cs typeface="Cambria" pitchFamily="34" charset="-120"/>
              </a:rPr>
              <a:t>OralPath Learn</a:t>
            </a:r>
            <a:endParaRPr lang="en-US" sz="5200" dirty="0"/>
          </a:p>
        </p:txBody>
      </p:sp>
      <p:sp>
        <p:nvSpPr>
          <p:cNvPr id="4" name="Text 2"/>
          <p:cNvSpPr/>
          <p:nvPr/>
        </p:nvSpPr>
        <p:spPr>
          <a:xfrm>
            <a:off x="457200" y="1691640"/>
            <a:ext cx="8412480" cy="640080"/>
          </a:xfrm>
          <a:prstGeom prst="rect">
            <a:avLst/>
          </a:prstGeom>
          <a:noFill/>
          <a:ln/>
        </p:spPr>
        <p:txBody>
          <a:bodyPr wrap="square" lIns="0" tIns="0" rIns="0" bIns="0" rtlCol="0" anchor="ctr"/>
          <a:lstStyle/>
          <a:p>
            <a:pPr marL="0" indent="0" algn="l">
              <a:buNone/>
            </a:pPr>
            <a:r>
              <a:rPr lang="en-US" sz="1900" dirty="0">
                <a:solidFill>
                  <a:srgbClr val="E8F0FE"/>
                </a:solidFill>
                <a:latin typeface="Calibri" pitchFamily="34" charset="0"/>
                <a:ea typeface="Calibri" pitchFamily="34" charset="-122"/>
                <a:cs typeface="Calibri" pitchFamily="34" charset="-120"/>
              </a:rPr>
              <a:t>Interactive Educational Application in Odontogenic Oral Pathology</a:t>
            </a:r>
            <a:endParaRPr lang="en-US" sz="1900" dirty="0"/>
          </a:p>
        </p:txBody>
      </p:sp>
      <p:sp>
        <p:nvSpPr>
          <p:cNvPr id="5" name="Shape 3"/>
          <p:cNvSpPr/>
          <p:nvPr/>
        </p:nvSpPr>
        <p:spPr>
          <a:xfrm>
            <a:off x="457200" y="2423160"/>
            <a:ext cx="8229600" cy="36576"/>
          </a:xfrm>
          <a:prstGeom prst="rect">
            <a:avLst/>
          </a:prstGeom>
          <a:solidFill>
            <a:srgbClr val="19D3C5"/>
          </a:solidFill>
          <a:ln w="12700">
            <a:solidFill>
              <a:srgbClr val="19D3C5"/>
            </a:solidFill>
            <a:prstDash val="solid"/>
          </a:ln>
        </p:spPr>
      </p:sp>
      <p:sp>
        <p:nvSpPr>
          <p:cNvPr id="6" name="Shape 4"/>
          <p:cNvSpPr/>
          <p:nvPr/>
        </p:nvSpPr>
        <p:spPr>
          <a:xfrm>
            <a:off x="457200" y="2606040"/>
            <a:ext cx="3291840" cy="347472"/>
          </a:xfrm>
          <a:prstGeom prst="roundRect">
            <a:avLst>
              <a:gd name="adj" fmla="val 15789"/>
            </a:avLst>
          </a:prstGeom>
          <a:solidFill>
            <a:srgbClr val="0E8F87"/>
          </a:solidFill>
          <a:ln w="12700">
            <a:solidFill>
              <a:srgbClr val="0E8F87"/>
            </a:solidFill>
            <a:prstDash val="solid"/>
          </a:ln>
        </p:spPr>
      </p:sp>
      <p:sp>
        <p:nvSpPr>
          <p:cNvPr id="7" name="Text 5"/>
          <p:cNvSpPr/>
          <p:nvPr/>
        </p:nvSpPr>
        <p:spPr>
          <a:xfrm>
            <a:off x="457200" y="2606040"/>
            <a:ext cx="3291840" cy="347472"/>
          </a:xfrm>
          <a:prstGeom prst="rect">
            <a:avLst/>
          </a:prstGeom>
          <a:noFill/>
          <a:ln/>
        </p:spPr>
        <p:txBody>
          <a:bodyPr wrap="square" lIns="0" tIns="0" rIns="0" bIns="0" rtlCol="0" anchor="ctr"/>
          <a:lstStyle/>
          <a:p>
            <a:pPr marL="0" indent="0" algn="ctr">
              <a:buNone/>
            </a:pPr>
            <a:r>
              <a:rPr lang="en-US" sz="1100" b="1" dirty="0">
                <a:solidFill>
                  <a:srgbClr val="FFFFFF"/>
                </a:solidFill>
              </a:rPr>
              <a:t>Computer Vision · BSCS-8A · Bahria University Lahore</a:t>
            </a:r>
            <a:endParaRPr lang="en-US" sz="1100" dirty="0"/>
          </a:p>
        </p:txBody>
      </p:sp>
      <p:sp>
        <p:nvSpPr>
          <p:cNvPr id="8" name="Shape 6"/>
          <p:cNvSpPr/>
          <p:nvPr/>
        </p:nvSpPr>
        <p:spPr>
          <a:xfrm>
            <a:off x="457200" y="3108960"/>
            <a:ext cx="5029200" cy="310896"/>
          </a:xfrm>
          <a:prstGeom prst="rect">
            <a:avLst/>
          </a:prstGeom>
          <a:solidFill>
            <a:srgbClr val="0D2560"/>
          </a:solidFill>
          <a:ln w="12700">
            <a:solidFill>
              <a:srgbClr val="1A3A8C"/>
            </a:solidFill>
            <a:prstDash val="solid"/>
          </a:ln>
        </p:spPr>
      </p:sp>
      <p:sp>
        <p:nvSpPr>
          <p:cNvPr id="9" name="Text 7"/>
          <p:cNvSpPr/>
          <p:nvPr/>
        </p:nvSpPr>
        <p:spPr>
          <a:xfrm>
            <a:off x="548640" y="3108960"/>
            <a:ext cx="2743200" cy="310896"/>
          </a:xfrm>
          <a:prstGeom prst="rect">
            <a:avLst/>
          </a:prstGeom>
          <a:noFill/>
          <a:ln/>
        </p:spPr>
        <p:txBody>
          <a:bodyPr wrap="square" lIns="0" tIns="0" rIns="0" bIns="0" rtlCol="0" anchor="ctr"/>
          <a:lstStyle/>
          <a:p>
            <a:pPr marL="0" indent="0">
              <a:buNone/>
            </a:pPr>
            <a:r>
              <a:rPr lang="en-US" sz="1300" dirty="0">
                <a:solidFill>
                  <a:srgbClr val="E8F0FE"/>
                </a:solidFill>
              </a:rPr>
              <a:t>Hussain Adnan</a:t>
            </a:r>
            <a:endParaRPr lang="en-US" sz="1300" dirty="0"/>
          </a:p>
        </p:txBody>
      </p:sp>
      <p:sp>
        <p:nvSpPr>
          <p:cNvPr id="10" name="Text 8"/>
          <p:cNvSpPr/>
          <p:nvPr/>
        </p:nvSpPr>
        <p:spPr>
          <a:xfrm>
            <a:off x="3291840" y="3108960"/>
            <a:ext cx="2194560" cy="310896"/>
          </a:xfrm>
          <a:prstGeom prst="rect">
            <a:avLst/>
          </a:prstGeom>
          <a:noFill/>
          <a:ln/>
        </p:spPr>
        <p:txBody>
          <a:bodyPr wrap="square" lIns="0" tIns="0" rIns="0" bIns="0" rtlCol="0" anchor="ctr"/>
          <a:lstStyle/>
          <a:p>
            <a:pPr marL="0" indent="0">
              <a:buNone/>
            </a:pPr>
            <a:r>
              <a:rPr lang="en-US" sz="1300" b="1" dirty="0">
                <a:solidFill>
                  <a:srgbClr val="19D3C5"/>
                </a:solidFill>
              </a:rPr>
              <a:t>03-134222-033</a:t>
            </a:r>
            <a:endParaRPr lang="en-US" sz="1300" dirty="0"/>
          </a:p>
        </p:txBody>
      </p:sp>
      <p:sp>
        <p:nvSpPr>
          <p:cNvPr id="11" name="Shape 9"/>
          <p:cNvSpPr/>
          <p:nvPr/>
        </p:nvSpPr>
        <p:spPr>
          <a:xfrm>
            <a:off x="457200" y="3456432"/>
            <a:ext cx="5029200" cy="310896"/>
          </a:xfrm>
          <a:prstGeom prst="rect">
            <a:avLst/>
          </a:prstGeom>
          <a:solidFill>
            <a:srgbClr val="112070"/>
          </a:solidFill>
          <a:ln w="12700">
            <a:solidFill>
              <a:srgbClr val="1A3A8C"/>
            </a:solidFill>
            <a:prstDash val="solid"/>
          </a:ln>
        </p:spPr>
      </p:sp>
      <p:sp>
        <p:nvSpPr>
          <p:cNvPr id="12" name="Text 10"/>
          <p:cNvSpPr/>
          <p:nvPr/>
        </p:nvSpPr>
        <p:spPr>
          <a:xfrm>
            <a:off x="548640" y="3456432"/>
            <a:ext cx="2743200" cy="310896"/>
          </a:xfrm>
          <a:prstGeom prst="rect">
            <a:avLst/>
          </a:prstGeom>
          <a:noFill/>
          <a:ln/>
        </p:spPr>
        <p:txBody>
          <a:bodyPr wrap="square" lIns="0" tIns="0" rIns="0" bIns="0" rtlCol="0" anchor="ctr"/>
          <a:lstStyle/>
          <a:p>
            <a:pPr marL="0" indent="0">
              <a:buNone/>
            </a:pPr>
            <a:r>
              <a:rPr lang="en-US" sz="1300" dirty="0">
                <a:solidFill>
                  <a:srgbClr val="E8F0FE"/>
                </a:solidFill>
              </a:rPr>
              <a:t>Abdul Rehman</a:t>
            </a:r>
            <a:endParaRPr lang="en-US" sz="1300" dirty="0"/>
          </a:p>
        </p:txBody>
      </p:sp>
      <p:sp>
        <p:nvSpPr>
          <p:cNvPr id="13" name="Text 11"/>
          <p:cNvSpPr/>
          <p:nvPr/>
        </p:nvSpPr>
        <p:spPr>
          <a:xfrm>
            <a:off x="3291840" y="3456432"/>
            <a:ext cx="2194560" cy="310896"/>
          </a:xfrm>
          <a:prstGeom prst="rect">
            <a:avLst/>
          </a:prstGeom>
          <a:noFill/>
          <a:ln/>
        </p:spPr>
        <p:txBody>
          <a:bodyPr wrap="square" lIns="0" tIns="0" rIns="0" bIns="0" rtlCol="0" anchor="ctr"/>
          <a:lstStyle/>
          <a:p>
            <a:pPr marL="0" indent="0">
              <a:buNone/>
            </a:pPr>
            <a:r>
              <a:rPr lang="en-US" sz="1300" b="1" dirty="0">
                <a:solidFill>
                  <a:srgbClr val="19D3C5"/>
                </a:solidFill>
              </a:rPr>
              <a:t>03-134222-005</a:t>
            </a:r>
            <a:endParaRPr lang="en-US" sz="1300" dirty="0"/>
          </a:p>
        </p:txBody>
      </p:sp>
      <p:sp>
        <p:nvSpPr>
          <p:cNvPr id="14" name="Shape 12"/>
          <p:cNvSpPr/>
          <p:nvPr/>
        </p:nvSpPr>
        <p:spPr>
          <a:xfrm>
            <a:off x="457200" y="3803904"/>
            <a:ext cx="5029200" cy="310896"/>
          </a:xfrm>
          <a:prstGeom prst="rect">
            <a:avLst/>
          </a:prstGeom>
          <a:solidFill>
            <a:srgbClr val="0D2560"/>
          </a:solidFill>
          <a:ln w="12700">
            <a:solidFill>
              <a:srgbClr val="1A3A8C"/>
            </a:solidFill>
            <a:prstDash val="solid"/>
          </a:ln>
        </p:spPr>
      </p:sp>
      <p:sp>
        <p:nvSpPr>
          <p:cNvPr id="15" name="Text 13"/>
          <p:cNvSpPr/>
          <p:nvPr/>
        </p:nvSpPr>
        <p:spPr>
          <a:xfrm>
            <a:off x="548640" y="3803904"/>
            <a:ext cx="2743200" cy="310896"/>
          </a:xfrm>
          <a:prstGeom prst="rect">
            <a:avLst/>
          </a:prstGeom>
          <a:noFill/>
          <a:ln/>
        </p:spPr>
        <p:txBody>
          <a:bodyPr wrap="square" lIns="0" tIns="0" rIns="0" bIns="0" rtlCol="0" anchor="ctr"/>
          <a:lstStyle/>
          <a:p>
            <a:pPr marL="0" indent="0">
              <a:buNone/>
            </a:pPr>
            <a:r>
              <a:rPr lang="en-US" sz="1300" dirty="0">
                <a:solidFill>
                  <a:srgbClr val="E8F0FE"/>
                </a:solidFill>
              </a:rPr>
              <a:t>Akif Aziz</a:t>
            </a:r>
            <a:endParaRPr lang="en-US" sz="1300" dirty="0"/>
          </a:p>
        </p:txBody>
      </p:sp>
      <p:sp>
        <p:nvSpPr>
          <p:cNvPr id="16" name="Text 14"/>
          <p:cNvSpPr/>
          <p:nvPr/>
        </p:nvSpPr>
        <p:spPr>
          <a:xfrm>
            <a:off x="3291840" y="3803904"/>
            <a:ext cx="2194560" cy="310896"/>
          </a:xfrm>
          <a:prstGeom prst="rect">
            <a:avLst/>
          </a:prstGeom>
          <a:noFill/>
          <a:ln/>
        </p:spPr>
        <p:txBody>
          <a:bodyPr wrap="square" lIns="0" tIns="0" rIns="0" bIns="0" rtlCol="0" anchor="ctr"/>
          <a:lstStyle/>
          <a:p>
            <a:pPr marL="0" indent="0">
              <a:buNone/>
            </a:pPr>
            <a:r>
              <a:rPr lang="en-US" sz="1300" b="1" dirty="0">
                <a:solidFill>
                  <a:srgbClr val="19D3C5"/>
                </a:solidFill>
              </a:rPr>
              <a:t>03-134222-013</a:t>
            </a:r>
            <a:endParaRPr lang="en-US" sz="1300" dirty="0"/>
          </a:p>
        </p:txBody>
      </p:sp>
      <p:sp>
        <p:nvSpPr>
          <p:cNvPr id="17" name="Text 15">
            <a:hlinkClick r:id="rId3"/>
          </p:cNvPr>
          <p:cNvSpPr/>
          <p:nvPr/>
        </p:nvSpPr>
        <p:spPr>
          <a:xfrm>
            <a:off x="457200" y="4572000"/>
            <a:ext cx="8229600" cy="320040"/>
          </a:xfrm>
          <a:prstGeom prst="rect">
            <a:avLst/>
          </a:prstGeom>
          <a:noFill/>
          <a:ln/>
        </p:spPr>
        <p:txBody>
          <a:bodyPr wrap="square" lIns="0" tIns="0" rIns="0" bIns="0" rtlCol="0" anchor="ctr"/>
          <a:lstStyle/>
          <a:p>
            <a:pPr marL="0" indent="0" algn="l">
              <a:buNone/>
            </a:pPr>
            <a:r>
              <a:rPr lang="en-US" sz="1200" u="sng" dirty="0">
                <a:solidFill>
                  <a:srgbClr val="19D3C5"/>
                </a:solidFill>
                <a:hlinkClick r:id="rId3">
                  <a:extLst>
                    <a:ext uri="{A12FA001-AC4F-418D-AE19-62706E023703}">
                      <ahyp:hlinkClr xmlns:ahyp="http://schemas.microsoft.com/office/drawing/2018/hyperlinkcolor" xmlns="" val="tx"/>
                    </a:ext>
                  </a:extLst>
                </a:hlinkClick>
              </a:rPr>
              <a:t>abdulrehman942004.github.io/OralPathApp/</a:t>
            </a:r>
            <a:endParaRPr lang="en-US" sz="1200" dirty="0"/>
          </a:p>
        </p:txBody>
      </p:sp>
      <p:sp>
        <p:nvSpPr>
          <p:cNvPr id="18" name="Shape 16"/>
          <p:cNvSpPr/>
          <p:nvPr/>
        </p:nvSpPr>
        <p:spPr>
          <a:xfrm>
            <a:off x="7132320" y="274320"/>
            <a:ext cx="2377440" cy="2377440"/>
          </a:xfrm>
          <a:prstGeom prst="ellipse">
            <a:avLst/>
          </a:prstGeom>
          <a:solidFill>
            <a:srgbClr val="0E8F87">
              <a:alpha val="25000"/>
            </a:srgbClr>
          </a:solidFill>
          <a:ln w="25400">
            <a:solidFill>
              <a:srgbClr val="19D3C5"/>
            </a:solidFill>
            <a:prstDash val="solid"/>
          </a:ln>
        </p:spPr>
      </p:sp>
      <p:sp>
        <p:nvSpPr>
          <p:cNvPr id="19" name="Text 17"/>
          <p:cNvSpPr/>
          <p:nvPr/>
        </p:nvSpPr>
        <p:spPr>
          <a:xfrm>
            <a:off x="7498080" y="640080"/>
            <a:ext cx="1371600" cy="1371600"/>
          </a:xfrm>
          <a:prstGeom prst="rect">
            <a:avLst/>
          </a:prstGeom>
          <a:noFill/>
          <a:ln/>
        </p:spPr>
        <p:txBody>
          <a:bodyPr wrap="square" lIns="0" tIns="0" rIns="0" bIns="0" rtlCol="0" anchor="ctr"/>
          <a:lstStyle/>
          <a:p>
            <a:pPr marL="0" indent="0" algn="ctr">
              <a:buNone/>
            </a:pPr>
            <a:r>
              <a:rPr lang="en-US" sz="5200" dirty="0">
                <a:solidFill>
                  <a:srgbClr val="000000"/>
                </a:solidFill>
              </a:rPr>
              <a:t>🦷</a:t>
            </a:r>
            <a:endParaRPr lang="en-US" sz="5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6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6305C"/>
          </a:solidFill>
          <a:ln w="12700">
            <a:solidFill>
              <a:srgbClr val="16305C"/>
            </a:solidFill>
            <a:prstDash val="solid"/>
          </a:ln>
        </p:spPr>
      </p:sp>
      <p:sp>
        <p:nvSpPr>
          <p:cNvPr id="3" name="Text 1"/>
          <p:cNvSpPr/>
          <p:nvPr/>
        </p:nvSpPr>
        <p:spPr>
          <a:xfrm>
            <a:off x="365760" y="0"/>
            <a:ext cx="8412480" cy="685800"/>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Agenda</a:t>
            </a:r>
            <a:endParaRPr lang="en-US" sz="2800" dirty="0"/>
          </a:p>
        </p:txBody>
      </p:sp>
      <p:sp>
        <p:nvSpPr>
          <p:cNvPr id="4" name="Shape 2"/>
          <p:cNvSpPr/>
          <p:nvPr/>
        </p:nvSpPr>
        <p:spPr>
          <a:xfrm>
            <a:off x="457200" y="914400"/>
            <a:ext cx="4114800" cy="694944"/>
          </a:xfrm>
          <a:prstGeom prst="rect">
            <a:avLst/>
          </a:prstGeom>
          <a:solidFill>
            <a:srgbClr val="FFFFFF"/>
          </a:solidFill>
          <a:ln w="12700">
            <a:solidFill>
              <a:srgbClr val="D0DFFF"/>
            </a:solidFill>
            <a:prstDash val="solid"/>
          </a:ln>
          <a:effectLst>
            <a:outerShdw blurRad="101600" dist="25400" dir="8100000" algn="bl" rotWithShape="0">
              <a:srgbClr val="000000">
                <a:alpha val="18000"/>
              </a:srgbClr>
            </a:outerShdw>
          </a:effectLst>
        </p:spPr>
      </p:sp>
      <p:sp>
        <p:nvSpPr>
          <p:cNvPr id="5" name="Shape 3"/>
          <p:cNvSpPr/>
          <p:nvPr/>
        </p:nvSpPr>
        <p:spPr>
          <a:xfrm>
            <a:off x="566928" y="1024128"/>
            <a:ext cx="475488" cy="475488"/>
          </a:xfrm>
          <a:prstGeom prst="ellipse">
            <a:avLst/>
          </a:prstGeom>
          <a:solidFill>
            <a:srgbClr val="16305C"/>
          </a:solidFill>
          <a:ln w="12700">
            <a:solidFill>
              <a:srgbClr val="16305C"/>
            </a:solidFill>
            <a:prstDash val="solid"/>
          </a:ln>
        </p:spPr>
      </p:sp>
      <p:sp>
        <p:nvSpPr>
          <p:cNvPr id="6" name="Text 4"/>
          <p:cNvSpPr/>
          <p:nvPr/>
        </p:nvSpPr>
        <p:spPr>
          <a:xfrm>
            <a:off x="566928" y="1024128"/>
            <a:ext cx="475488" cy="475488"/>
          </a:xfrm>
          <a:prstGeom prst="rect">
            <a:avLst/>
          </a:prstGeom>
          <a:noFill/>
          <a:ln/>
        </p:spPr>
        <p:txBody>
          <a:bodyPr wrap="square" lIns="0" tIns="0" rIns="0" bIns="0" rtlCol="0" anchor="ctr"/>
          <a:lstStyle/>
          <a:p>
            <a:pPr marL="0" indent="0" algn="ctr">
              <a:buNone/>
            </a:pPr>
            <a:r>
              <a:rPr lang="en-US" sz="1200" b="1" dirty="0">
                <a:solidFill>
                  <a:srgbClr val="19D3C5"/>
                </a:solidFill>
              </a:rPr>
              <a:t>01</a:t>
            </a:r>
            <a:endParaRPr lang="en-US" sz="1200" dirty="0"/>
          </a:p>
        </p:txBody>
      </p:sp>
      <p:sp>
        <p:nvSpPr>
          <p:cNvPr id="7" name="Text 5"/>
          <p:cNvSpPr/>
          <p:nvPr/>
        </p:nvSpPr>
        <p:spPr>
          <a:xfrm>
            <a:off x="1143000" y="987552"/>
            <a:ext cx="3337560" cy="548640"/>
          </a:xfrm>
          <a:prstGeom prst="rect">
            <a:avLst/>
          </a:prstGeom>
          <a:noFill/>
          <a:ln/>
        </p:spPr>
        <p:txBody>
          <a:bodyPr wrap="square" lIns="0" tIns="0" rIns="0" bIns="0" rtlCol="0" anchor="ctr"/>
          <a:lstStyle/>
          <a:p>
            <a:pPr marL="0" indent="0">
              <a:buNone/>
            </a:pPr>
            <a:r>
              <a:rPr lang="en-US" sz="1400" dirty="0">
                <a:solidFill>
                  <a:srgbClr val="16305C"/>
                </a:solidFill>
              </a:rPr>
              <a:t>Problem Statement &amp; Motivation</a:t>
            </a:r>
            <a:endParaRPr lang="en-US" sz="1400" dirty="0"/>
          </a:p>
        </p:txBody>
      </p:sp>
      <p:sp>
        <p:nvSpPr>
          <p:cNvPr id="8" name="Shape 6"/>
          <p:cNvSpPr/>
          <p:nvPr/>
        </p:nvSpPr>
        <p:spPr>
          <a:xfrm>
            <a:off x="457200" y="1810512"/>
            <a:ext cx="4114800" cy="694944"/>
          </a:xfrm>
          <a:prstGeom prst="rect">
            <a:avLst/>
          </a:prstGeom>
          <a:solidFill>
            <a:srgbClr val="FFFFFF"/>
          </a:solidFill>
          <a:ln w="12700">
            <a:solidFill>
              <a:srgbClr val="D0DFFF"/>
            </a:solidFill>
            <a:prstDash val="solid"/>
          </a:ln>
          <a:effectLst>
            <a:outerShdw blurRad="101600" dist="25400" dir="8100000" algn="bl" rotWithShape="0">
              <a:srgbClr val="000000">
                <a:alpha val="18000"/>
              </a:srgbClr>
            </a:outerShdw>
          </a:effectLst>
        </p:spPr>
      </p:sp>
      <p:sp>
        <p:nvSpPr>
          <p:cNvPr id="9" name="Shape 7"/>
          <p:cNvSpPr/>
          <p:nvPr/>
        </p:nvSpPr>
        <p:spPr>
          <a:xfrm>
            <a:off x="566928" y="1920240"/>
            <a:ext cx="475488" cy="475488"/>
          </a:xfrm>
          <a:prstGeom prst="ellipse">
            <a:avLst/>
          </a:prstGeom>
          <a:solidFill>
            <a:srgbClr val="16305C"/>
          </a:solidFill>
          <a:ln w="12700">
            <a:solidFill>
              <a:srgbClr val="16305C"/>
            </a:solidFill>
            <a:prstDash val="solid"/>
          </a:ln>
        </p:spPr>
      </p:sp>
      <p:sp>
        <p:nvSpPr>
          <p:cNvPr id="10" name="Text 8"/>
          <p:cNvSpPr/>
          <p:nvPr/>
        </p:nvSpPr>
        <p:spPr>
          <a:xfrm>
            <a:off x="566928" y="1920240"/>
            <a:ext cx="475488" cy="475488"/>
          </a:xfrm>
          <a:prstGeom prst="rect">
            <a:avLst/>
          </a:prstGeom>
          <a:noFill/>
          <a:ln/>
        </p:spPr>
        <p:txBody>
          <a:bodyPr wrap="square" lIns="0" tIns="0" rIns="0" bIns="0" rtlCol="0" anchor="ctr"/>
          <a:lstStyle/>
          <a:p>
            <a:pPr marL="0" indent="0" algn="ctr">
              <a:buNone/>
            </a:pPr>
            <a:r>
              <a:rPr lang="en-US" sz="1200" b="1" dirty="0">
                <a:solidFill>
                  <a:srgbClr val="19D3C5"/>
                </a:solidFill>
              </a:rPr>
              <a:t>02</a:t>
            </a:r>
            <a:endParaRPr lang="en-US" sz="1200" dirty="0"/>
          </a:p>
        </p:txBody>
      </p:sp>
      <p:sp>
        <p:nvSpPr>
          <p:cNvPr id="11" name="Text 9"/>
          <p:cNvSpPr/>
          <p:nvPr/>
        </p:nvSpPr>
        <p:spPr>
          <a:xfrm>
            <a:off x="1143000" y="1883664"/>
            <a:ext cx="3337560" cy="548640"/>
          </a:xfrm>
          <a:prstGeom prst="rect">
            <a:avLst/>
          </a:prstGeom>
          <a:noFill/>
          <a:ln/>
        </p:spPr>
        <p:txBody>
          <a:bodyPr wrap="square" lIns="0" tIns="0" rIns="0" bIns="0" rtlCol="0" anchor="ctr"/>
          <a:lstStyle/>
          <a:p>
            <a:pPr marL="0" indent="0">
              <a:buNone/>
            </a:pPr>
            <a:r>
              <a:rPr lang="en-US" sz="1400" dirty="0">
                <a:solidFill>
                  <a:srgbClr val="16305C"/>
                </a:solidFill>
              </a:rPr>
              <a:t>Application Overview &amp; Features</a:t>
            </a:r>
            <a:endParaRPr lang="en-US" sz="1400" dirty="0"/>
          </a:p>
        </p:txBody>
      </p:sp>
      <p:sp>
        <p:nvSpPr>
          <p:cNvPr id="12" name="Shape 10"/>
          <p:cNvSpPr/>
          <p:nvPr/>
        </p:nvSpPr>
        <p:spPr>
          <a:xfrm>
            <a:off x="457200" y="2706624"/>
            <a:ext cx="4114800" cy="694944"/>
          </a:xfrm>
          <a:prstGeom prst="rect">
            <a:avLst/>
          </a:prstGeom>
          <a:solidFill>
            <a:srgbClr val="FFFFFF"/>
          </a:solidFill>
          <a:ln w="12700">
            <a:solidFill>
              <a:srgbClr val="D0DFFF"/>
            </a:solidFill>
            <a:prstDash val="solid"/>
          </a:ln>
          <a:effectLst>
            <a:outerShdw blurRad="101600" dist="25400" dir="8100000" algn="bl" rotWithShape="0">
              <a:srgbClr val="000000">
                <a:alpha val="18000"/>
              </a:srgbClr>
            </a:outerShdw>
          </a:effectLst>
        </p:spPr>
      </p:sp>
      <p:sp>
        <p:nvSpPr>
          <p:cNvPr id="13" name="Shape 11"/>
          <p:cNvSpPr/>
          <p:nvPr/>
        </p:nvSpPr>
        <p:spPr>
          <a:xfrm>
            <a:off x="566928" y="2816352"/>
            <a:ext cx="475488" cy="475488"/>
          </a:xfrm>
          <a:prstGeom prst="ellipse">
            <a:avLst/>
          </a:prstGeom>
          <a:solidFill>
            <a:srgbClr val="16305C"/>
          </a:solidFill>
          <a:ln w="12700">
            <a:solidFill>
              <a:srgbClr val="16305C"/>
            </a:solidFill>
            <a:prstDash val="solid"/>
          </a:ln>
        </p:spPr>
      </p:sp>
      <p:sp>
        <p:nvSpPr>
          <p:cNvPr id="14" name="Text 12"/>
          <p:cNvSpPr/>
          <p:nvPr/>
        </p:nvSpPr>
        <p:spPr>
          <a:xfrm>
            <a:off x="566928" y="2816352"/>
            <a:ext cx="475488" cy="475488"/>
          </a:xfrm>
          <a:prstGeom prst="rect">
            <a:avLst/>
          </a:prstGeom>
          <a:noFill/>
          <a:ln/>
        </p:spPr>
        <p:txBody>
          <a:bodyPr wrap="square" lIns="0" tIns="0" rIns="0" bIns="0" rtlCol="0" anchor="ctr"/>
          <a:lstStyle/>
          <a:p>
            <a:pPr marL="0" indent="0" algn="ctr">
              <a:buNone/>
            </a:pPr>
            <a:r>
              <a:rPr lang="en-US" sz="1200" b="1" dirty="0">
                <a:solidFill>
                  <a:srgbClr val="19D3C5"/>
                </a:solidFill>
              </a:rPr>
              <a:t>03</a:t>
            </a:r>
            <a:endParaRPr lang="en-US" sz="1200" dirty="0"/>
          </a:p>
        </p:txBody>
      </p:sp>
      <p:sp>
        <p:nvSpPr>
          <p:cNvPr id="15" name="Text 13"/>
          <p:cNvSpPr/>
          <p:nvPr/>
        </p:nvSpPr>
        <p:spPr>
          <a:xfrm>
            <a:off x="1143000" y="2779776"/>
            <a:ext cx="3337560" cy="548640"/>
          </a:xfrm>
          <a:prstGeom prst="rect">
            <a:avLst/>
          </a:prstGeom>
          <a:noFill/>
          <a:ln/>
        </p:spPr>
        <p:txBody>
          <a:bodyPr wrap="square" lIns="0" tIns="0" rIns="0" bIns="0" rtlCol="0" anchor="ctr"/>
          <a:lstStyle/>
          <a:p>
            <a:pPr marL="0" indent="0">
              <a:buNone/>
            </a:pPr>
            <a:r>
              <a:rPr lang="en-US" sz="1400" dirty="0">
                <a:solidFill>
                  <a:srgbClr val="16305C"/>
                </a:solidFill>
              </a:rPr>
              <a:t>Technology Stack</a:t>
            </a:r>
            <a:endParaRPr lang="en-US" sz="1400" dirty="0"/>
          </a:p>
        </p:txBody>
      </p:sp>
      <p:sp>
        <p:nvSpPr>
          <p:cNvPr id="16" name="Shape 14"/>
          <p:cNvSpPr/>
          <p:nvPr/>
        </p:nvSpPr>
        <p:spPr>
          <a:xfrm>
            <a:off x="457200" y="3602736"/>
            <a:ext cx="4114800" cy="694944"/>
          </a:xfrm>
          <a:prstGeom prst="rect">
            <a:avLst/>
          </a:prstGeom>
          <a:solidFill>
            <a:srgbClr val="FFFFFF"/>
          </a:solidFill>
          <a:ln w="12700">
            <a:solidFill>
              <a:srgbClr val="D0DFFF"/>
            </a:solidFill>
            <a:prstDash val="solid"/>
          </a:ln>
          <a:effectLst>
            <a:outerShdw blurRad="101600" dist="25400" dir="8100000" algn="bl" rotWithShape="0">
              <a:srgbClr val="000000">
                <a:alpha val="18000"/>
              </a:srgbClr>
            </a:outerShdw>
          </a:effectLst>
        </p:spPr>
      </p:sp>
      <p:sp>
        <p:nvSpPr>
          <p:cNvPr id="17" name="Shape 15"/>
          <p:cNvSpPr/>
          <p:nvPr/>
        </p:nvSpPr>
        <p:spPr>
          <a:xfrm>
            <a:off x="566928" y="3712464"/>
            <a:ext cx="475488" cy="475488"/>
          </a:xfrm>
          <a:prstGeom prst="ellipse">
            <a:avLst/>
          </a:prstGeom>
          <a:solidFill>
            <a:srgbClr val="16305C"/>
          </a:solidFill>
          <a:ln w="12700">
            <a:solidFill>
              <a:srgbClr val="16305C"/>
            </a:solidFill>
            <a:prstDash val="solid"/>
          </a:ln>
        </p:spPr>
      </p:sp>
      <p:sp>
        <p:nvSpPr>
          <p:cNvPr id="18" name="Text 16"/>
          <p:cNvSpPr/>
          <p:nvPr/>
        </p:nvSpPr>
        <p:spPr>
          <a:xfrm>
            <a:off x="566928" y="3712464"/>
            <a:ext cx="475488" cy="475488"/>
          </a:xfrm>
          <a:prstGeom prst="rect">
            <a:avLst/>
          </a:prstGeom>
          <a:noFill/>
          <a:ln/>
        </p:spPr>
        <p:txBody>
          <a:bodyPr wrap="square" lIns="0" tIns="0" rIns="0" bIns="0" rtlCol="0" anchor="ctr"/>
          <a:lstStyle/>
          <a:p>
            <a:pPr marL="0" indent="0" algn="ctr">
              <a:buNone/>
            </a:pPr>
            <a:r>
              <a:rPr lang="en-US" sz="1200" b="1" dirty="0">
                <a:solidFill>
                  <a:srgbClr val="19D3C5"/>
                </a:solidFill>
              </a:rPr>
              <a:t>04</a:t>
            </a:r>
            <a:endParaRPr lang="en-US" sz="1200" dirty="0"/>
          </a:p>
        </p:txBody>
      </p:sp>
      <p:sp>
        <p:nvSpPr>
          <p:cNvPr id="19" name="Text 17"/>
          <p:cNvSpPr/>
          <p:nvPr/>
        </p:nvSpPr>
        <p:spPr>
          <a:xfrm>
            <a:off x="1143000" y="3675888"/>
            <a:ext cx="3337560" cy="548640"/>
          </a:xfrm>
          <a:prstGeom prst="rect">
            <a:avLst/>
          </a:prstGeom>
          <a:noFill/>
          <a:ln/>
        </p:spPr>
        <p:txBody>
          <a:bodyPr wrap="square" lIns="0" tIns="0" rIns="0" bIns="0" rtlCol="0" anchor="ctr"/>
          <a:lstStyle/>
          <a:p>
            <a:pPr marL="0" indent="0">
              <a:buNone/>
            </a:pPr>
            <a:r>
              <a:rPr lang="en-US" sz="1400" dirty="0">
                <a:solidFill>
                  <a:srgbClr val="16305C"/>
                </a:solidFill>
              </a:rPr>
              <a:t>Computer Vision Pipeline</a:t>
            </a:r>
            <a:endParaRPr lang="en-US" sz="1400" dirty="0"/>
          </a:p>
        </p:txBody>
      </p:sp>
      <p:sp>
        <p:nvSpPr>
          <p:cNvPr id="20" name="Shape 18"/>
          <p:cNvSpPr/>
          <p:nvPr/>
        </p:nvSpPr>
        <p:spPr>
          <a:xfrm>
            <a:off x="4846320" y="914400"/>
            <a:ext cx="4114800" cy="694944"/>
          </a:xfrm>
          <a:prstGeom prst="rect">
            <a:avLst/>
          </a:prstGeom>
          <a:solidFill>
            <a:srgbClr val="FFFFFF"/>
          </a:solidFill>
          <a:ln w="12700">
            <a:solidFill>
              <a:srgbClr val="D0DFFF"/>
            </a:solidFill>
            <a:prstDash val="solid"/>
          </a:ln>
          <a:effectLst>
            <a:outerShdw blurRad="101600" dist="25400" dir="8100000" algn="bl" rotWithShape="0">
              <a:srgbClr val="000000">
                <a:alpha val="18000"/>
              </a:srgbClr>
            </a:outerShdw>
          </a:effectLst>
        </p:spPr>
      </p:sp>
      <p:sp>
        <p:nvSpPr>
          <p:cNvPr id="21" name="Shape 19"/>
          <p:cNvSpPr/>
          <p:nvPr/>
        </p:nvSpPr>
        <p:spPr>
          <a:xfrm>
            <a:off x="4956048" y="1024128"/>
            <a:ext cx="475488" cy="475488"/>
          </a:xfrm>
          <a:prstGeom prst="ellipse">
            <a:avLst/>
          </a:prstGeom>
          <a:solidFill>
            <a:srgbClr val="16305C"/>
          </a:solidFill>
          <a:ln w="12700">
            <a:solidFill>
              <a:srgbClr val="16305C"/>
            </a:solidFill>
            <a:prstDash val="solid"/>
          </a:ln>
        </p:spPr>
      </p:sp>
      <p:sp>
        <p:nvSpPr>
          <p:cNvPr id="22" name="Text 20"/>
          <p:cNvSpPr/>
          <p:nvPr/>
        </p:nvSpPr>
        <p:spPr>
          <a:xfrm>
            <a:off x="4956048" y="1024128"/>
            <a:ext cx="475488" cy="475488"/>
          </a:xfrm>
          <a:prstGeom prst="rect">
            <a:avLst/>
          </a:prstGeom>
          <a:noFill/>
          <a:ln/>
        </p:spPr>
        <p:txBody>
          <a:bodyPr wrap="square" lIns="0" tIns="0" rIns="0" bIns="0" rtlCol="0" anchor="ctr"/>
          <a:lstStyle/>
          <a:p>
            <a:pPr marL="0" indent="0" algn="ctr">
              <a:buNone/>
            </a:pPr>
            <a:r>
              <a:rPr lang="en-US" sz="1200" b="1" dirty="0">
                <a:solidFill>
                  <a:srgbClr val="19D3C5"/>
                </a:solidFill>
              </a:rPr>
              <a:t>05</a:t>
            </a:r>
            <a:endParaRPr lang="en-US" sz="1200" dirty="0"/>
          </a:p>
        </p:txBody>
      </p:sp>
      <p:sp>
        <p:nvSpPr>
          <p:cNvPr id="23" name="Text 21"/>
          <p:cNvSpPr/>
          <p:nvPr/>
        </p:nvSpPr>
        <p:spPr>
          <a:xfrm>
            <a:off x="5532120" y="987552"/>
            <a:ext cx="3337560" cy="548640"/>
          </a:xfrm>
          <a:prstGeom prst="rect">
            <a:avLst/>
          </a:prstGeom>
          <a:noFill/>
          <a:ln/>
        </p:spPr>
        <p:txBody>
          <a:bodyPr wrap="square" lIns="0" tIns="0" rIns="0" bIns="0" rtlCol="0" anchor="ctr"/>
          <a:lstStyle/>
          <a:p>
            <a:pPr marL="0" indent="0">
              <a:buNone/>
            </a:pPr>
            <a:r>
              <a:rPr lang="en-US" sz="1400" dirty="0">
                <a:solidFill>
                  <a:srgbClr val="16305C"/>
                </a:solidFill>
              </a:rPr>
              <a:t>AI &amp; Prompt Engineering</a:t>
            </a:r>
            <a:endParaRPr lang="en-US" sz="1400" dirty="0"/>
          </a:p>
        </p:txBody>
      </p:sp>
      <p:sp>
        <p:nvSpPr>
          <p:cNvPr id="24" name="Shape 22"/>
          <p:cNvSpPr/>
          <p:nvPr/>
        </p:nvSpPr>
        <p:spPr>
          <a:xfrm>
            <a:off x="4846320" y="1810512"/>
            <a:ext cx="4114800" cy="694944"/>
          </a:xfrm>
          <a:prstGeom prst="rect">
            <a:avLst/>
          </a:prstGeom>
          <a:solidFill>
            <a:srgbClr val="FFFFFF"/>
          </a:solidFill>
          <a:ln w="12700">
            <a:solidFill>
              <a:srgbClr val="D0DFFF"/>
            </a:solidFill>
            <a:prstDash val="solid"/>
          </a:ln>
          <a:effectLst>
            <a:outerShdw blurRad="101600" dist="25400" dir="8100000" algn="bl" rotWithShape="0">
              <a:srgbClr val="000000">
                <a:alpha val="18000"/>
              </a:srgbClr>
            </a:outerShdw>
          </a:effectLst>
        </p:spPr>
      </p:sp>
      <p:sp>
        <p:nvSpPr>
          <p:cNvPr id="25" name="Shape 23"/>
          <p:cNvSpPr/>
          <p:nvPr/>
        </p:nvSpPr>
        <p:spPr>
          <a:xfrm>
            <a:off x="4956048" y="1920240"/>
            <a:ext cx="475488" cy="475488"/>
          </a:xfrm>
          <a:prstGeom prst="ellipse">
            <a:avLst/>
          </a:prstGeom>
          <a:solidFill>
            <a:srgbClr val="16305C"/>
          </a:solidFill>
          <a:ln w="12700">
            <a:solidFill>
              <a:srgbClr val="16305C"/>
            </a:solidFill>
            <a:prstDash val="solid"/>
          </a:ln>
        </p:spPr>
      </p:sp>
      <p:sp>
        <p:nvSpPr>
          <p:cNvPr id="26" name="Text 24"/>
          <p:cNvSpPr/>
          <p:nvPr/>
        </p:nvSpPr>
        <p:spPr>
          <a:xfrm>
            <a:off x="4956048" y="1920240"/>
            <a:ext cx="475488" cy="475488"/>
          </a:xfrm>
          <a:prstGeom prst="rect">
            <a:avLst/>
          </a:prstGeom>
          <a:noFill/>
          <a:ln/>
        </p:spPr>
        <p:txBody>
          <a:bodyPr wrap="square" lIns="0" tIns="0" rIns="0" bIns="0" rtlCol="0" anchor="ctr"/>
          <a:lstStyle/>
          <a:p>
            <a:pPr marL="0" indent="0" algn="ctr">
              <a:buNone/>
            </a:pPr>
            <a:r>
              <a:rPr lang="en-US" sz="1200" b="1" dirty="0">
                <a:solidFill>
                  <a:srgbClr val="19D3C5"/>
                </a:solidFill>
              </a:rPr>
              <a:t>06</a:t>
            </a:r>
            <a:endParaRPr lang="en-US" sz="1200" dirty="0"/>
          </a:p>
        </p:txBody>
      </p:sp>
      <p:sp>
        <p:nvSpPr>
          <p:cNvPr id="27" name="Text 25"/>
          <p:cNvSpPr/>
          <p:nvPr/>
        </p:nvSpPr>
        <p:spPr>
          <a:xfrm>
            <a:off x="5532120" y="1883664"/>
            <a:ext cx="3337560" cy="548640"/>
          </a:xfrm>
          <a:prstGeom prst="rect">
            <a:avLst/>
          </a:prstGeom>
          <a:noFill/>
          <a:ln/>
        </p:spPr>
        <p:txBody>
          <a:bodyPr wrap="square" lIns="0" tIns="0" rIns="0" bIns="0" rtlCol="0" anchor="ctr"/>
          <a:lstStyle/>
          <a:p>
            <a:pPr marL="0" indent="0">
              <a:buNone/>
            </a:pPr>
            <a:r>
              <a:rPr lang="en-US" sz="1400" dirty="0">
                <a:solidFill>
                  <a:srgbClr val="16305C"/>
                </a:solidFill>
              </a:rPr>
              <a:t>Augmented Reality Module</a:t>
            </a:r>
            <a:endParaRPr lang="en-US" sz="1400" dirty="0"/>
          </a:p>
        </p:txBody>
      </p:sp>
      <p:sp>
        <p:nvSpPr>
          <p:cNvPr id="28" name="Shape 26"/>
          <p:cNvSpPr/>
          <p:nvPr/>
        </p:nvSpPr>
        <p:spPr>
          <a:xfrm>
            <a:off x="4846320" y="2706624"/>
            <a:ext cx="4114800" cy="694944"/>
          </a:xfrm>
          <a:prstGeom prst="rect">
            <a:avLst/>
          </a:prstGeom>
          <a:solidFill>
            <a:srgbClr val="FFFFFF"/>
          </a:solidFill>
          <a:ln w="12700">
            <a:solidFill>
              <a:srgbClr val="D0DFFF"/>
            </a:solidFill>
            <a:prstDash val="solid"/>
          </a:ln>
          <a:effectLst>
            <a:outerShdw blurRad="101600" dist="25400" dir="8100000" algn="bl" rotWithShape="0">
              <a:srgbClr val="000000">
                <a:alpha val="18000"/>
              </a:srgbClr>
            </a:outerShdw>
          </a:effectLst>
        </p:spPr>
      </p:sp>
      <p:sp>
        <p:nvSpPr>
          <p:cNvPr id="29" name="Shape 27"/>
          <p:cNvSpPr/>
          <p:nvPr/>
        </p:nvSpPr>
        <p:spPr>
          <a:xfrm>
            <a:off x="4956048" y="2816352"/>
            <a:ext cx="475488" cy="475488"/>
          </a:xfrm>
          <a:prstGeom prst="ellipse">
            <a:avLst/>
          </a:prstGeom>
          <a:solidFill>
            <a:srgbClr val="16305C"/>
          </a:solidFill>
          <a:ln w="12700">
            <a:solidFill>
              <a:srgbClr val="16305C"/>
            </a:solidFill>
            <a:prstDash val="solid"/>
          </a:ln>
        </p:spPr>
      </p:sp>
      <p:sp>
        <p:nvSpPr>
          <p:cNvPr id="30" name="Text 28"/>
          <p:cNvSpPr/>
          <p:nvPr/>
        </p:nvSpPr>
        <p:spPr>
          <a:xfrm>
            <a:off x="4956048" y="2816352"/>
            <a:ext cx="475488" cy="475488"/>
          </a:xfrm>
          <a:prstGeom prst="rect">
            <a:avLst/>
          </a:prstGeom>
          <a:noFill/>
          <a:ln/>
        </p:spPr>
        <p:txBody>
          <a:bodyPr wrap="square" lIns="0" tIns="0" rIns="0" bIns="0" rtlCol="0" anchor="ctr"/>
          <a:lstStyle/>
          <a:p>
            <a:pPr marL="0" indent="0" algn="ctr">
              <a:buNone/>
            </a:pPr>
            <a:r>
              <a:rPr lang="en-US" sz="1200" b="1" dirty="0">
                <a:solidFill>
                  <a:srgbClr val="19D3C5"/>
                </a:solidFill>
              </a:rPr>
              <a:t>07</a:t>
            </a:r>
            <a:endParaRPr lang="en-US" sz="1200" dirty="0"/>
          </a:p>
        </p:txBody>
      </p:sp>
      <p:sp>
        <p:nvSpPr>
          <p:cNvPr id="31" name="Text 29"/>
          <p:cNvSpPr/>
          <p:nvPr/>
        </p:nvSpPr>
        <p:spPr>
          <a:xfrm>
            <a:off x="5532120" y="2779776"/>
            <a:ext cx="3337560" cy="548640"/>
          </a:xfrm>
          <a:prstGeom prst="rect">
            <a:avLst/>
          </a:prstGeom>
          <a:noFill/>
          <a:ln/>
        </p:spPr>
        <p:txBody>
          <a:bodyPr wrap="square" lIns="0" tIns="0" rIns="0" bIns="0" rtlCol="0" anchor="ctr"/>
          <a:lstStyle/>
          <a:p>
            <a:pPr marL="0" indent="0">
              <a:buNone/>
            </a:pPr>
            <a:r>
              <a:rPr lang="en-US" sz="1400" dirty="0">
                <a:solidFill>
                  <a:srgbClr val="16305C"/>
                </a:solidFill>
              </a:rPr>
              <a:t>Results &amp; Discussion</a:t>
            </a:r>
            <a:endParaRPr lang="en-US" sz="1400" dirty="0"/>
          </a:p>
        </p:txBody>
      </p:sp>
      <p:sp>
        <p:nvSpPr>
          <p:cNvPr id="32" name="Shape 30"/>
          <p:cNvSpPr/>
          <p:nvPr/>
        </p:nvSpPr>
        <p:spPr>
          <a:xfrm>
            <a:off x="4846320" y="3602736"/>
            <a:ext cx="4114800" cy="694944"/>
          </a:xfrm>
          <a:prstGeom prst="rect">
            <a:avLst/>
          </a:prstGeom>
          <a:solidFill>
            <a:srgbClr val="FFFFFF"/>
          </a:solidFill>
          <a:ln w="12700">
            <a:solidFill>
              <a:srgbClr val="D0DFFF"/>
            </a:solidFill>
            <a:prstDash val="solid"/>
          </a:ln>
          <a:effectLst>
            <a:outerShdw blurRad="101600" dist="25400" dir="8100000" algn="bl" rotWithShape="0">
              <a:srgbClr val="000000">
                <a:alpha val="18000"/>
              </a:srgbClr>
            </a:outerShdw>
          </a:effectLst>
        </p:spPr>
      </p:sp>
      <p:sp>
        <p:nvSpPr>
          <p:cNvPr id="33" name="Shape 31"/>
          <p:cNvSpPr/>
          <p:nvPr/>
        </p:nvSpPr>
        <p:spPr>
          <a:xfrm>
            <a:off x="4956048" y="3712464"/>
            <a:ext cx="475488" cy="475488"/>
          </a:xfrm>
          <a:prstGeom prst="ellipse">
            <a:avLst/>
          </a:prstGeom>
          <a:solidFill>
            <a:srgbClr val="16305C"/>
          </a:solidFill>
          <a:ln w="12700">
            <a:solidFill>
              <a:srgbClr val="16305C"/>
            </a:solidFill>
            <a:prstDash val="solid"/>
          </a:ln>
        </p:spPr>
      </p:sp>
      <p:sp>
        <p:nvSpPr>
          <p:cNvPr id="34" name="Text 32"/>
          <p:cNvSpPr/>
          <p:nvPr/>
        </p:nvSpPr>
        <p:spPr>
          <a:xfrm>
            <a:off x="4956048" y="3712464"/>
            <a:ext cx="475488" cy="475488"/>
          </a:xfrm>
          <a:prstGeom prst="rect">
            <a:avLst/>
          </a:prstGeom>
          <a:noFill/>
          <a:ln/>
        </p:spPr>
        <p:txBody>
          <a:bodyPr wrap="square" lIns="0" tIns="0" rIns="0" bIns="0" rtlCol="0" anchor="ctr"/>
          <a:lstStyle/>
          <a:p>
            <a:pPr marL="0" indent="0" algn="ctr">
              <a:buNone/>
            </a:pPr>
            <a:r>
              <a:rPr lang="en-US" sz="1200" b="1" dirty="0">
                <a:solidFill>
                  <a:srgbClr val="19D3C5"/>
                </a:solidFill>
              </a:rPr>
              <a:t>08</a:t>
            </a:r>
            <a:endParaRPr lang="en-US" sz="1200" dirty="0"/>
          </a:p>
        </p:txBody>
      </p:sp>
      <p:sp>
        <p:nvSpPr>
          <p:cNvPr id="35" name="Text 33"/>
          <p:cNvSpPr/>
          <p:nvPr/>
        </p:nvSpPr>
        <p:spPr>
          <a:xfrm>
            <a:off x="5532120" y="3675888"/>
            <a:ext cx="3337560" cy="548640"/>
          </a:xfrm>
          <a:prstGeom prst="rect">
            <a:avLst/>
          </a:prstGeom>
          <a:noFill/>
          <a:ln/>
        </p:spPr>
        <p:txBody>
          <a:bodyPr wrap="square" lIns="0" tIns="0" rIns="0" bIns="0" rtlCol="0" anchor="ctr"/>
          <a:lstStyle/>
          <a:p>
            <a:pPr marL="0" indent="0">
              <a:buNone/>
            </a:pPr>
            <a:r>
              <a:rPr lang="en-US" sz="1400" dirty="0">
                <a:solidFill>
                  <a:srgbClr val="16305C"/>
                </a:solidFill>
              </a:rPr>
              <a:t>Conclusion &amp; Future Work</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B40"/>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E8F87"/>
          </a:solidFill>
          <a:ln w="12700">
            <a:solidFill>
              <a:srgbClr val="0E8F87"/>
            </a:solidFill>
            <a:prstDash val="solid"/>
          </a:ln>
        </p:spPr>
      </p:sp>
      <p:sp>
        <p:nvSpPr>
          <p:cNvPr id="3" name="Text 1"/>
          <p:cNvSpPr/>
          <p:nvPr/>
        </p:nvSpPr>
        <p:spPr>
          <a:xfrm>
            <a:off x="365760" y="0"/>
            <a:ext cx="8412480" cy="685800"/>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Problem Statement</a:t>
            </a:r>
            <a:endParaRPr lang="en-US" sz="2800" dirty="0"/>
          </a:p>
        </p:txBody>
      </p:sp>
      <p:sp>
        <p:nvSpPr>
          <p:cNvPr id="4" name="Shape 2"/>
          <p:cNvSpPr/>
          <p:nvPr/>
        </p:nvSpPr>
        <p:spPr>
          <a:xfrm>
            <a:off x="274320" y="914400"/>
            <a:ext cx="4023360" cy="1691640"/>
          </a:xfrm>
          <a:prstGeom prst="rect">
            <a:avLst/>
          </a:prstGeom>
          <a:solidFill>
            <a:srgbClr val="16305C"/>
          </a:solidFill>
          <a:ln w="12700">
            <a:solidFill>
              <a:srgbClr val="2A4A8C"/>
            </a:solidFill>
            <a:prstDash val="solid"/>
          </a:ln>
          <a:effectLst>
            <a:outerShdw blurRad="101600" dist="25400" dir="8100000" algn="bl" rotWithShape="0">
              <a:srgbClr val="000000">
                <a:alpha val="18000"/>
              </a:srgbClr>
            </a:outerShdw>
          </a:effectLst>
        </p:spPr>
      </p:sp>
      <p:sp>
        <p:nvSpPr>
          <p:cNvPr id="5" name="Text 3"/>
          <p:cNvSpPr/>
          <p:nvPr/>
        </p:nvSpPr>
        <p:spPr>
          <a:xfrm>
            <a:off x="411480" y="1051560"/>
            <a:ext cx="640080" cy="640080"/>
          </a:xfrm>
          <a:prstGeom prst="rect">
            <a:avLst/>
          </a:prstGeom>
          <a:noFill/>
          <a:ln/>
        </p:spPr>
        <p:txBody>
          <a:bodyPr wrap="square" lIns="0" tIns="0" rIns="0" bIns="0" rtlCol="0" anchor="ctr"/>
          <a:lstStyle/>
          <a:p>
            <a:pPr marL="0" indent="0" algn="ctr">
              <a:buNone/>
            </a:pPr>
            <a:r>
              <a:rPr lang="en-US" sz="2800" dirty="0">
                <a:solidFill>
                  <a:srgbClr val="000000"/>
                </a:solidFill>
              </a:rPr>
              <a:t>📚</a:t>
            </a:r>
            <a:endParaRPr lang="en-US" sz="2800" dirty="0"/>
          </a:p>
        </p:txBody>
      </p:sp>
      <p:sp>
        <p:nvSpPr>
          <p:cNvPr id="6" name="Text 4"/>
          <p:cNvSpPr/>
          <p:nvPr/>
        </p:nvSpPr>
        <p:spPr>
          <a:xfrm>
            <a:off x="1097280" y="1051560"/>
            <a:ext cx="3063240" cy="411480"/>
          </a:xfrm>
          <a:prstGeom prst="rect">
            <a:avLst/>
          </a:prstGeom>
          <a:noFill/>
          <a:ln/>
        </p:spPr>
        <p:txBody>
          <a:bodyPr wrap="square" lIns="0" tIns="0" rIns="0" bIns="0" rtlCol="0" anchor="ctr"/>
          <a:lstStyle/>
          <a:p>
            <a:pPr marL="0" indent="0">
              <a:buNone/>
            </a:pPr>
            <a:r>
              <a:rPr lang="en-US" sz="1500" b="1" dirty="0">
                <a:solidFill>
                  <a:srgbClr val="19D3C5"/>
                </a:solidFill>
              </a:rPr>
              <a:t>Static Textbooks</a:t>
            </a:r>
            <a:endParaRPr lang="en-US" sz="1500" dirty="0"/>
          </a:p>
        </p:txBody>
      </p:sp>
      <p:sp>
        <p:nvSpPr>
          <p:cNvPr id="7" name="Text 5"/>
          <p:cNvSpPr/>
          <p:nvPr/>
        </p:nvSpPr>
        <p:spPr>
          <a:xfrm>
            <a:off x="411480" y="1554480"/>
            <a:ext cx="3749040" cy="914400"/>
          </a:xfrm>
          <a:prstGeom prst="rect">
            <a:avLst/>
          </a:prstGeom>
          <a:noFill/>
          <a:ln/>
        </p:spPr>
        <p:txBody>
          <a:bodyPr wrap="square" lIns="0" tIns="0" rIns="0" bIns="0" rtlCol="0" anchor="t"/>
          <a:lstStyle/>
          <a:p>
            <a:pPr marL="0" indent="0">
              <a:buNone/>
            </a:pPr>
            <a:r>
              <a:rPr lang="en-US" sz="1300" dirty="0">
                <a:solidFill>
                  <a:srgbClr val="E8F0FE"/>
                </a:solidFill>
              </a:rPr>
              <a:t>2D illustrations fail to convey 3D spatial relationships in jaw pathology</a:t>
            </a:r>
            <a:endParaRPr lang="en-US" sz="1300" dirty="0"/>
          </a:p>
        </p:txBody>
      </p:sp>
      <p:sp>
        <p:nvSpPr>
          <p:cNvPr id="8" name="Shape 6"/>
          <p:cNvSpPr/>
          <p:nvPr/>
        </p:nvSpPr>
        <p:spPr>
          <a:xfrm>
            <a:off x="4754880" y="914400"/>
            <a:ext cx="4023360" cy="1691640"/>
          </a:xfrm>
          <a:prstGeom prst="rect">
            <a:avLst/>
          </a:prstGeom>
          <a:solidFill>
            <a:srgbClr val="16305C"/>
          </a:solidFill>
          <a:ln w="12700">
            <a:solidFill>
              <a:srgbClr val="2A4A8C"/>
            </a:solidFill>
            <a:prstDash val="solid"/>
          </a:ln>
          <a:effectLst>
            <a:outerShdw blurRad="101600" dist="25400" dir="8100000" algn="bl" rotWithShape="0">
              <a:srgbClr val="000000">
                <a:alpha val="18000"/>
              </a:srgbClr>
            </a:outerShdw>
          </a:effectLst>
        </p:spPr>
      </p:sp>
      <p:sp>
        <p:nvSpPr>
          <p:cNvPr id="9" name="Text 7"/>
          <p:cNvSpPr/>
          <p:nvPr/>
        </p:nvSpPr>
        <p:spPr>
          <a:xfrm>
            <a:off x="4892040" y="1051560"/>
            <a:ext cx="640080" cy="640080"/>
          </a:xfrm>
          <a:prstGeom prst="rect">
            <a:avLst/>
          </a:prstGeom>
          <a:noFill/>
          <a:ln/>
        </p:spPr>
        <p:txBody>
          <a:bodyPr wrap="square" lIns="0" tIns="0" rIns="0" bIns="0" rtlCol="0" anchor="ctr"/>
          <a:lstStyle/>
          <a:p>
            <a:pPr marL="0" indent="0" algn="ctr">
              <a:buNone/>
            </a:pPr>
            <a:r>
              <a:rPr lang="en-US" sz="2800" dirty="0">
                <a:solidFill>
                  <a:srgbClr val="000000"/>
                </a:solidFill>
              </a:rPr>
              <a:t>🏥</a:t>
            </a:r>
            <a:endParaRPr lang="en-US" sz="2800" dirty="0"/>
          </a:p>
        </p:txBody>
      </p:sp>
      <p:sp>
        <p:nvSpPr>
          <p:cNvPr id="10" name="Text 8"/>
          <p:cNvSpPr/>
          <p:nvPr/>
        </p:nvSpPr>
        <p:spPr>
          <a:xfrm>
            <a:off x="5577840" y="1051560"/>
            <a:ext cx="3063240" cy="411480"/>
          </a:xfrm>
          <a:prstGeom prst="rect">
            <a:avLst/>
          </a:prstGeom>
          <a:noFill/>
          <a:ln/>
        </p:spPr>
        <p:txBody>
          <a:bodyPr wrap="square" lIns="0" tIns="0" rIns="0" bIns="0" rtlCol="0" anchor="ctr"/>
          <a:lstStyle/>
          <a:p>
            <a:pPr marL="0" indent="0">
              <a:buNone/>
            </a:pPr>
            <a:r>
              <a:rPr lang="en-US" sz="1500" b="1" dirty="0">
                <a:solidFill>
                  <a:srgbClr val="19D3C5"/>
                </a:solidFill>
              </a:rPr>
              <a:t>Rare Exposure</a:t>
            </a:r>
            <a:endParaRPr lang="en-US" sz="1500" dirty="0"/>
          </a:p>
        </p:txBody>
      </p:sp>
      <p:sp>
        <p:nvSpPr>
          <p:cNvPr id="11" name="Text 9"/>
          <p:cNvSpPr/>
          <p:nvPr/>
        </p:nvSpPr>
        <p:spPr>
          <a:xfrm>
            <a:off x="4892040" y="1554480"/>
            <a:ext cx="3749040" cy="914400"/>
          </a:xfrm>
          <a:prstGeom prst="rect">
            <a:avLst/>
          </a:prstGeom>
          <a:noFill/>
          <a:ln/>
        </p:spPr>
        <p:txBody>
          <a:bodyPr wrap="square" lIns="0" tIns="0" rIns="0" bIns="0" rtlCol="0" anchor="t"/>
          <a:lstStyle/>
          <a:p>
            <a:pPr marL="0" indent="0">
              <a:buNone/>
            </a:pPr>
            <a:r>
              <a:rPr lang="en-US" sz="1300" dirty="0">
                <a:solidFill>
                  <a:srgbClr val="E8F0FE"/>
                </a:solidFill>
              </a:rPr>
              <a:t>Students rarely encounter uncommon lesions like CEOT or ameloblastoma in clinics</a:t>
            </a:r>
            <a:endParaRPr lang="en-US" sz="1300" dirty="0"/>
          </a:p>
        </p:txBody>
      </p:sp>
      <p:sp>
        <p:nvSpPr>
          <p:cNvPr id="12" name="Shape 10"/>
          <p:cNvSpPr/>
          <p:nvPr/>
        </p:nvSpPr>
        <p:spPr>
          <a:xfrm>
            <a:off x="274320" y="2880360"/>
            <a:ext cx="4023360" cy="1691640"/>
          </a:xfrm>
          <a:prstGeom prst="rect">
            <a:avLst/>
          </a:prstGeom>
          <a:solidFill>
            <a:srgbClr val="16305C"/>
          </a:solidFill>
          <a:ln w="12700">
            <a:solidFill>
              <a:srgbClr val="2A4A8C"/>
            </a:solidFill>
            <a:prstDash val="solid"/>
          </a:ln>
          <a:effectLst>
            <a:outerShdw blurRad="101600" dist="25400" dir="8100000" algn="bl" rotWithShape="0">
              <a:srgbClr val="000000">
                <a:alpha val="18000"/>
              </a:srgbClr>
            </a:outerShdw>
          </a:effectLst>
        </p:spPr>
      </p:sp>
      <p:sp>
        <p:nvSpPr>
          <p:cNvPr id="13" name="Text 11"/>
          <p:cNvSpPr/>
          <p:nvPr/>
        </p:nvSpPr>
        <p:spPr>
          <a:xfrm>
            <a:off x="411480" y="3017520"/>
            <a:ext cx="640080" cy="640080"/>
          </a:xfrm>
          <a:prstGeom prst="rect">
            <a:avLst/>
          </a:prstGeom>
          <a:noFill/>
          <a:ln/>
        </p:spPr>
        <p:txBody>
          <a:bodyPr wrap="square" lIns="0" tIns="0" rIns="0" bIns="0" rtlCol="0" anchor="ctr"/>
          <a:lstStyle/>
          <a:p>
            <a:pPr marL="0" indent="0" algn="ctr">
              <a:buNone/>
            </a:pPr>
            <a:r>
              <a:rPr lang="en-US" sz="2800" dirty="0">
                <a:solidFill>
                  <a:srgbClr val="000000"/>
                </a:solidFill>
              </a:rPr>
              <a:t>📝</a:t>
            </a:r>
            <a:endParaRPr lang="en-US" sz="2800" dirty="0"/>
          </a:p>
        </p:txBody>
      </p:sp>
      <p:sp>
        <p:nvSpPr>
          <p:cNvPr id="14" name="Text 12"/>
          <p:cNvSpPr/>
          <p:nvPr/>
        </p:nvSpPr>
        <p:spPr>
          <a:xfrm>
            <a:off x="1097280" y="3017520"/>
            <a:ext cx="3063240" cy="411480"/>
          </a:xfrm>
          <a:prstGeom prst="rect">
            <a:avLst/>
          </a:prstGeom>
          <a:noFill/>
          <a:ln/>
        </p:spPr>
        <p:txBody>
          <a:bodyPr wrap="square" lIns="0" tIns="0" rIns="0" bIns="0" rtlCol="0" anchor="ctr"/>
          <a:lstStyle/>
          <a:p>
            <a:pPr marL="0" indent="0">
              <a:buNone/>
            </a:pPr>
            <a:r>
              <a:rPr lang="en-US" sz="1500" b="1" dirty="0">
                <a:solidFill>
                  <a:srgbClr val="19D3C5"/>
                </a:solidFill>
              </a:rPr>
              <a:t>Passive Quizzing</a:t>
            </a:r>
            <a:endParaRPr lang="en-US" sz="1500" dirty="0"/>
          </a:p>
        </p:txBody>
      </p:sp>
      <p:sp>
        <p:nvSpPr>
          <p:cNvPr id="15" name="Text 13"/>
          <p:cNvSpPr/>
          <p:nvPr/>
        </p:nvSpPr>
        <p:spPr>
          <a:xfrm>
            <a:off x="411480" y="3520440"/>
            <a:ext cx="3749040" cy="914400"/>
          </a:xfrm>
          <a:prstGeom prst="rect">
            <a:avLst/>
          </a:prstGeom>
          <a:noFill/>
          <a:ln/>
        </p:spPr>
        <p:txBody>
          <a:bodyPr wrap="square" lIns="0" tIns="0" rIns="0" bIns="0" rtlCol="0" anchor="t"/>
          <a:lstStyle/>
          <a:p>
            <a:pPr marL="0" indent="0">
              <a:buNone/>
            </a:pPr>
            <a:r>
              <a:rPr lang="en-US" sz="1300" dirty="0">
                <a:solidFill>
                  <a:srgbClr val="E8F0FE"/>
                </a:solidFill>
              </a:rPr>
              <a:t>Paper question banks lack immediate feedback, explanations, and progress tracking</a:t>
            </a:r>
            <a:endParaRPr lang="en-US" sz="1300" dirty="0"/>
          </a:p>
        </p:txBody>
      </p:sp>
      <p:sp>
        <p:nvSpPr>
          <p:cNvPr id="16" name="Shape 14"/>
          <p:cNvSpPr/>
          <p:nvPr/>
        </p:nvSpPr>
        <p:spPr>
          <a:xfrm>
            <a:off x="4754880" y="2880360"/>
            <a:ext cx="4023360" cy="1691640"/>
          </a:xfrm>
          <a:prstGeom prst="rect">
            <a:avLst/>
          </a:prstGeom>
          <a:solidFill>
            <a:srgbClr val="16305C"/>
          </a:solidFill>
          <a:ln w="12700">
            <a:solidFill>
              <a:srgbClr val="2A4A8C"/>
            </a:solidFill>
            <a:prstDash val="solid"/>
          </a:ln>
          <a:effectLst>
            <a:outerShdw blurRad="101600" dist="25400" dir="8100000" algn="bl" rotWithShape="0">
              <a:srgbClr val="000000">
                <a:alpha val="18000"/>
              </a:srgbClr>
            </a:outerShdw>
          </a:effectLst>
        </p:spPr>
      </p:sp>
      <p:sp>
        <p:nvSpPr>
          <p:cNvPr id="17" name="Text 15"/>
          <p:cNvSpPr/>
          <p:nvPr/>
        </p:nvSpPr>
        <p:spPr>
          <a:xfrm>
            <a:off x="4892040" y="3017520"/>
            <a:ext cx="640080" cy="640080"/>
          </a:xfrm>
          <a:prstGeom prst="rect">
            <a:avLst/>
          </a:prstGeom>
          <a:noFill/>
          <a:ln/>
        </p:spPr>
        <p:txBody>
          <a:bodyPr wrap="square" lIns="0" tIns="0" rIns="0" bIns="0" rtlCol="0" anchor="ctr"/>
          <a:lstStyle/>
          <a:p>
            <a:pPr marL="0" indent="0" algn="ctr">
              <a:buNone/>
            </a:pPr>
            <a:r>
              <a:rPr lang="en-US" sz="2800" dirty="0">
                <a:solidFill>
                  <a:srgbClr val="000000"/>
                </a:solidFill>
              </a:rPr>
              <a:t>👨‍🏫</a:t>
            </a:r>
            <a:endParaRPr lang="en-US" sz="2800" dirty="0"/>
          </a:p>
        </p:txBody>
      </p:sp>
      <p:sp>
        <p:nvSpPr>
          <p:cNvPr id="18" name="Text 16"/>
          <p:cNvSpPr/>
          <p:nvPr/>
        </p:nvSpPr>
        <p:spPr>
          <a:xfrm>
            <a:off x="5577840" y="3017520"/>
            <a:ext cx="3063240" cy="411480"/>
          </a:xfrm>
          <a:prstGeom prst="rect">
            <a:avLst/>
          </a:prstGeom>
          <a:noFill/>
          <a:ln/>
        </p:spPr>
        <p:txBody>
          <a:bodyPr wrap="square" lIns="0" tIns="0" rIns="0" bIns="0" rtlCol="0" anchor="ctr"/>
          <a:lstStyle/>
          <a:p>
            <a:pPr marL="0" indent="0">
              <a:buNone/>
            </a:pPr>
            <a:r>
              <a:rPr lang="en-US" sz="1500" b="1" dirty="0">
                <a:solidFill>
                  <a:srgbClr val="19D3C5"/>
                </a:solidFill>
              </a:rPr>
              <a:t>Faculty Gap</a:t>
            </a:r>
            <a:endParaRPr lang="en-US" sz="1500" dirty="0"/>
          </a:p>
        </p:txBody>
      </p:sp>
      <p:sp>
        <p:nvSpPr>
          <p:cNvPr id="19" name="Text 17"/>
          <p:cNvSpPr/>
          <p:nvPr/>
        </p:nvSpPr>
        <p:spPr>
          <a:xfrm>
            <a:off x="4892040" y="3520440"/>
            <a:ext cx="3749040" cy="914400"/>
          </a:xfrm>
          <a:prstGeom prst="rect">
            <a:avLst/>
          </a:prstGeom>
          <a:noFill/>
          <a:ln/>
        </p:spPr>
        <p:txBody>
          <a:bodyPr wrap="square" lIns="0" tIns="0" rIns="0" bIns="0" rtlCol="0" anchor="t"/>
          <a:lstStyle/>
          <a:p>
            <a:pPr marL="0" indent="0">
              <a:buNone/>
            </a:pPr>
            <a:r>
              <a:rPr lang="en-US" sz="1300" dirty="0">
                <a:solidFill>
                  <a:srgbClr val="E8F0FE"/>
                </a:solidFill>
              </a:rPr>
              <a:t>No efficient tool to convert lecture PDFs into interactive assessments quickly</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6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6305C"/>
          </a:solidFill>
          <a:ln w="12700">
            <a:solidFill>
              <a:srgbClr val="16305C"/>
            </a:solidFill>
            <a:prstDash val="solid"/>
          </a:ln>
        </p:spPr>
      </p:sp>
      <p:sp>
        <p:nvSpPr>
          <p:cNvPr id="3" name="Text 1"/>
          <p:cNvSpPr/>
          <p:nvPr/>
        </p:nvSpPr>
        <p:spPr>
          <a:xfrm>
            <a:off x="365760" y="0"/>
            <a:ext cx="8412480" cy="685800"/>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Application Overview</a:t>
            </a:r>
            <a:endParaRPr lang="en-US" sz="2800" dirty="0"/>
          </a:p>
        </p:txBody>
      </p:sp>
      <p:sp>
        <p:nvSpPr>
          <p:cNvPr id="4" name="Shape 2"/>
          <p:cNvSpPr/>
          <p:nvPr/>
        </p:nvSpPr>
        <p:spPr>
          <a:xfrm>
            <a:off x="228600" y="868680"/>
            <a:ext cx="1554480" cy="1874520"/>
          </a:xfrm>
          <a:prstGeom prst="rect">
            <a:avLst/>
          </a:prstGeom>
          <a:solidFill>
            <a:srgbClr val="FFFFFF"/>
          </a:solidFill>
          <a:ln w="12700">
            <a:solidFill>
              <a:srgbClr val="C5D8FF"/>
            </a:solidFill>
            <a:prstDash val="solid"/>
          </a:ln>
          <a:effectLst>
            <a:outerShdw blurRad="101600" dist="25400" dir="8100000" algn="bl" rotWithShape="0">
              <a:srgbClr val="000000">
                <a:alpha val="18000"/>
              </a:srgbClr>
            </a:outerShdw>
          </a:effectLst>
        </p:spPr>
      </p:sp>
      <p:sp>
        <p:nvSpPr>
          <p:cNvPr id="5" name="Shape 3"/>
          <p:cNvSpPr/>
          <p:nvPr/>
        </p:nvSpPr>
        <p:spPr>
          <a:xfrm>
            <a:off x="777240" y="960120"/>
            <a:ext cx="457200" cy="457200"/>
          </a:xfrm>
          <a:prstGeom prst="ellipse">
            <a:avLst/>
          </a:prstGeom>
          <a:solidFill>
            <a:srgbClr val="16305C"/>
          </a:solidFill>
          <a:ln w="12700">
            <a:solidFill>
              <a:srgbClr val="16305C"/>
            </a:solidFill>
            <a:prstDash val="solid"/>
          </a:ln>
        </p:spPr>
      </p:sp>
      <p:sp>
        <p:nvSpPr>
          <p:cNvPr id="6" name="Text 4"/>
          <p:cNvSpPr/>
          <p:nvPr/>
        </p:nvSpPr>
        <p:spPr>
          <a:xfrm>
            <a:off x="777240" y="960120"/>
            <a:ext cx="457200" cy="457200"/>
          </a:xfrm>
          <a:prstGeom prst="rect">
            <a:avLst/>
          </a:prstGeom>
          <a:noFill/>
          <a:ln/>
        </p:spPr>
        <p:txBody>
          <a:bodyPr wrap="square" lIns="0" tIns="0" rIns="0" bIns="0" rtlCol="0" anchor="ctr"/>
          <a:lstStyle/>
          <a:p>
            <a:pPr marL="0" indent="0" algn="ctr">
              <a:buNone/>
            </a:pPr>
            <a:r>
              <a:rPr lang="en-US" sz="1800" dirty="0">
                <a:solidFill>
                  <a:srgbClr val="000000"/>
                </a:solidFill>
              </a:rPr>
              <a:t>🔬</a:t>
            </a:r>
            <a:endParaRPr lang="en-US" sz="1800" dirty="0"/>
          </a:p>
        </p:txBody>
      </p:sp>
      <p:sp>
        <p:nvSpPr>
          <p:cNvPr id="7" name="Text 5"/>
          <p:cNvSpPr/>
          <p:nvPr/>
        </p:nvSpPr>
        <p:spPr>
          <a:xfrm>
            <a:off x="274320" y="1490472"/>
            <a:ext cx="1463040" cy="347472"/>
          </a:xfrm>
          <a:prstGeom prst="rect">
            <a:avLst/>
          </a:prstGeom>
          <a:noFill/>
          <a:ln/>
        </p:spPr>
        <p:txBody>
          <a:bodyPr wrap="square" lIns="0" tIns="0" rIns="0" bIns="0" rtlCol="0" anchor="ctr"/>
          <a:lstStyle/>
          <a:p>
            <a:pPr marL="0" indent="0" algn="ctr">
              <a:buNone/>
            </a:pPr>
            <a:r>
              <a:rPr lang="en-US" sz="1100" b="1" dirty="0">
                <a:solidFill>
                  <a:srgbClr val="16305C"/>
                </a:solidFill>
              </a:rPr>
              <a:t>CV Lab</a:t>
            </a:r>
            <a:endParaRPr lang="en-US" sz="1100" dirty="0"/>
          </a:p>
        </p:txBody>
      </p:sp>
      <p:sp>
        <p:nvSpPr>
          <p:cNvPr id="8" name="Text 6"/>
          <p:cNvSpPr/>
          <p:nvPr/>
        </p:nvSpPr>
        <p:spPr>
          <a:xfrm>
            <a:off x="274320" y="1856232"/>
            <a:ext cx="1463040" cy="804672"/>
          </a:xfrm>
          <a:prstGeom prst="rect">
            <a:avLst/>
          </a:prstGeom>
          <a:noFill/>
          <a:ln/>
        </p:spPr>
        <p:txBody>
          <a:bodyPr wrap="square" lIns="0" tIns="0" rIns="0" bIns="0" rtlCol="0" anchor="t"/>
          <a:lstStyle/>
          <a:p>
            <a:pPr marL="0" indent="0" algn="ctr">
              <a:buNone/>
            </a:pPr>
            <a:r>
              <a:rPr lang="en-US" sz="1000" dirty="0">
                <a:solidFill>
                  <a:srgbClr val="445577"/>
                </a:solidFill>
              </a:rPr>
              <a:t>Radiograph analysis:</a:t>
            </a:r>
            <a:endParaRPr lang="en-US" sz="1000" dirty="0"/>
          </a:p>
          <a:p>
            <a:pPr marL="0" indent="0" algn="ctr">
              <a:buNone/>
            </a:pPr>
            <a:r>
              <a:rPr lang="en-US" sz="1000" dirty="0">
                <a:solidFill>
                  <a:srgbClr val="445577"/>
                </a:solidFill>
              </a:rPr>
              <a:t>grayscale→edges→Otsu</a:t>
            </a:r>
            <a:endParaRPr lang="en-US" sz="1000" dirty="0"/>
          </a:p>
        </p:txBody>
      </p:sp>
      <p:sp>
        <p:nvSpPr>
          <p:cNvPr id="9" name="Shape 7"/>
          <p:cNvSpPr/>
          <p:nvPr/>
        </p:nvSpPr>
        <p:spPr>
          <a:xfrm>
            <a:off x="1965960" y="868680"/>
            <a:ext cx="1554480" cy="1874520"/>
          </a:xfrm>
          <a:prstGeom prst="rect">
            <a:avLst/>
          </a:prstGeom>
          <a:solidFill>
            <a:srgbClr val="FFFFFF"/>
          </a:solidFill>
          <a:ln w="12700">
            <a:solidFill>
              <a:srgbClr val="C5D8FF"/>
            </a:solidFill>
            <a:prstDash val="solid"/>
          </a:ln>
          <a:effectLst>
            <a:outerShdw blurRad="101600" dist="25400" dir="8100000" algn="bl" rotWithShape="0">
              <a:srgbClr val="000000">
                <a:alpha val="18000"/>
              </a:srgbClr>
            </a:outerShdw>
          </a:effectLst>
        </p:spPr>
      </p:sp>
      <p:sp>
        <p:nvSpPr>
          <p:cNvPr id="10" name="Shape 8"/>
          <p:cNvSpPr/>
          <p:nvPr/>
        </p:nvSpPr>
        <p:spPr>
          <a:xfrm>
            <a:off x="2514600" y="960120"/>
            <a:ext cx="457200" cy="457200"/>
          </a:xfrm>
          <a:prstGeom prst="ellipse">
            <a:avLst/>
          </a:prstGeom>
          <a:solidFill>
            <a:srgbClr val="16305C"/>
          </a:solidFill>
          <a:ln w="12700">
            <a:solidFill>
              <a:srgbClr val="16305C"/>
            </a:solidFill>
            <a:prstDash val="solid"/>
          </a:ln>
        </p:spPr>
      </p:sp>
      <p:sp>
        <p:nvSpPr>
          <p:cNvPr id="11" name="Text 9"/>
          <p:cNvSpPr/>
          <p:nvPr/>
        </p:nvSpPr>
        <p:spPr>
          <a:xfrm>
            <a:off x="2514600" y="960120"/>
            <a:ext cx="457200" cy="457200"/>
          </a:xfrm>
          <a:prstGeom prst="rect">
            <a:avLst/>
          </a:prstGeom>
          <a:noFill/>
          <a:ln/>
        </p:spPr>
        <p:txBody>
          <a:bodyPr wrap="square" lIns="0" tIns="0" rIns="0" bIns="0" rtlCol="0" anchor="ctr"/>
          <a:lstStyle/>
          <a:p>
            <a:pPr marL="0" indent="0" algn="ctr">
              <a:buNone/>
            </a:pPr>
            <a:r>
              <a:rPr lang="en-US" sz="1800" dirty="0">
                <a:solidFill>
                  <a:srgbClr val="000000"/>
                </a:solidFill>
              </a:rPr>
              <a:t>🦷</a:t>
            </a:r>
            <a:endParaRPr lang="en-US" sz="1800" dirty="0"/>
          </a:p>
        </p:txBody>
      </p:sp>
      <p:sp>
        <p:nvSpPr>
          <p:cNvPr id="12" name="Text 10"/>
          <p:cNvSpPr/>
          <p:nvPr/>
        </p:nvSpPr>
        <p:spPr>
          <a:xfrm>
            <a:off x="2011680" y="1490472"/>
            <a:ext cx="1463040" cy="347472"/>
          </a:xfrm>
          <a:prstGeom prst="rect">
            <a:avLst/>
          </a:prstGeom>
          <a:noFill/>
          <a:ln/>
        </p:spPr>
        <p:txBody>
          <a:bodyPr wrap="square" lIns="0" tIns="0" rIns="0" bIns="0" rtlCol="0" anchor="ctr"/>
          <a:lstStyle/>
          <a:p>
            <a:pPr marL="0" indent="0" algn="ctr">
              <a:buNone/>
            </a:pPr>
            <a:r>
              <a:rPr lang="en-US" sz="1100" b="1" dirty="0">
                <a:solidFill>
                  <a:srgbClr val="16305C"/>
                </a:solidFill>
              </a:rPr>
              <a:t>3D AR Viewer</a:t>
            </a:r>
            <a:endParaRPr lang="en-US" sz="1100" dirty="0"/>
          </a:p>
        </p:txBody>
      </p:sp>
      <p:sp>
        <p:nvSpPr>
          <p:cNvPr id="13" name="Text 11"/>
          <p:cNvSpPr/>
          <p:nvPr/>
        </p:nvSpPr>
        <p:spPr>
          <a:xfrm>
            <a:off x="2011680" y="1856232"/>
            <a:ext cx="1463040" cy="804672"/>
          </a:xfrm>
          <a:prstGeom prst="rect">
            <a:avLst/>
          </a:prstGeom>
          <a:noFill/>
          <a:ln/>
        </p:spPr>
        <p:txBody>
          <a:bodyPr wrap="square" lIns="0" tIns="0" rIns="0" bIns="0" rtlCol="0" anchor="t"/>
          <a:lstStyle/>
          <a:p>
            <a:pPr marL="0" indent="0" algn="ctr">
              <a:buNone/>
            </a:pPr>
            <a:r>
              <a:rPr lang="en-US" sz="1000" dirty="0">
                <a:solidFill>
                  <a:srgbClr val="445577"/>
                </a:solidFill>
              </a:rPr>
              <a:t>NIH models, ARCore,</a:t>
            </a:r>
            <a:endParaRPr lang="en-US" sz="1000" dirty="0"/>
          </a:p>
          <a:p>
            <a:pPr marL="0" indent="0" algn="ctr">
              <a:buNone/>
            </a:pPr>
            <a:r>
              <a:rPr lang="en-US" sz="1000" dirty="0">
                <a:solidFill>
                  <a:srgbClr val="445577"/>
                </a:solidFill>
              </a:rPr>
              <a:t>hotspot annotations</a:t>
            </a:r>
            <a:endParaRPr lang="en-US" sz="1000" dirty="0"/>
          </a:p>
        </p:txBody>
      </p:sp>
      <p:sp>
        <p:nvSpPr>
          <p:cNvPr id="14" name="Shape 12"/>
          <p:cNvSpPr/>
          <p:nvPr/>
        </p:nvSpPr>
        <p:spPr>
          <a:xfrm>
            <a:off x="3703320" y="868680"/>
            <a:ext cx="1554480" cy="1874520"/>
          </a:xfrm>
          <a:prstGeom prst="rect">
            <a:avLst/>
          </a:prstGeom>
          <a:solidFill>
            <a:srgbClr val="FFFFFF"/>
          </a:solidFill>
          <a:ln w="12700">
            <a:solidFill>
              <a:srgbClr val="C5D8FF"/>
            </a:solidFill>
            <a:prstDash val="solid"/>
          </a:ln>
          <a:effectLst>
            <a:outerShdw blurRad="101600" dist="25400" dir="8100000" algn="bl" rotWithShape="0">
              <a:srgbClr val="000000">
                <a:alpha val="18000"/>
              </a:srgbClr>
            </a:outerShdw>
          </a:effectLst>
        </p:spPr>
      </p:sp>
      <p:sp>
        <p:nvSpPr>
          <p:cNvPr id="15" name="Shape 13"/>
          <p:cNvSpPr/>
          <p:nvPr/>
        </p:nvSpPr>
        <p:spPr>
          <a:xfrm>
            <a:off x="4251960" y="960120"/>
            <a:ext cx="457200" cy="457200"/>
          </a:xfrm>
          <a:prstGeom prst="ellipse">
            <a:avLst/>
          </a:prstGeom>
          <a:solidFill>
            <a:srgbClr val="16305C"/>
          </a:solidFill>
          <a:ln w="12700">
            <a:solidFill>
              <a:srgbClr val="16305C"/>
            </a:solidFill>
            <a:prstDash val="solid"/>
          </a:ln>
        </p:spPr>
      </p:sp>
      <p:sp>
        <p:nvSpPr>
          <p:cNvPr id="16" name="Text 14"/>
          <p:cNvSpPr/>
          <p:nvPr/>
        </p:nvSpPr>
        <p:spPr>
          <a:xfrm>
            <a:off x="4251960" y="960120"/>
            <a:ext cx="457200" cy="457200"/>
          </a:xfrm>
          <a:prstGeom prst="rect">
            <a:avLst/>
          </a:prstGeom>
          <a:noFill/>
          <a:ln/>
        </p:spPr>
        <p:txBody>
          <a:bodyPr wrap="square" lIns="0" tIns="0" rIns="0" bIns="0" rtlCol="0" anchor="ctr"/>
          <a:lstStyle/>
          <a:p>
            <a:pPr marL="0" indent="0" algn="ctr">
              <a:buNone/>
            </a:pPr>
            <a:r>
              <a:rPr lang="en-US" sz="1800" dirty="0">
                <a:solidFill>
                  <a:srgbClr val="000000"/>
                </a:solidFill>
              </a:rPr>
              <a:t>📖</a:t>
            </a:r>
            <a:endParaRPr lang="en-US" sz="1800" dirty="0"/>
          </a:p>
        </p:txBody>
      </p:sp>
      <p:sp>
        <p:nvSpPr>
          <p:cNvPr id="17" name="Text 15"/>
          <p:cNvSpPr/>
          <p:nvPr/>
        </p:nvSpPr>
        <p:spPr>
          <a:xfrm>
            <a:off x="3749040" y="1490472"/>
            <a:ext cx="1463040" cy="347472"/>
          </a:xfrm>
          <a:prstGeom prst="rect">
            <a:avLst/>
          </a:prstGeom>
          <a:noFill/>
          <a:ln/>
        </p:spPr>
        <p:txBody>
          <a:bodyPr wrap="square" lIns="0" tIns="0" rIns="0" bIns="0" rtlCol="0" anchor="ctr"/>
          <a:lstStyle/>
          <a:p>
            <a:pPr marL="0" indent="0" algn="ctr">
              <a:buNone/>
            </a:pPr>
            <a:r>
              <a:rPr lang="en-US" sz="1100" b="1" dirty="0">
                <a:solidFill>
                  <a:srgbClr val="16305C"/>
                </a:solidFill>
              </a:rPr>
              <a:t>Reading Modules</a:t>
            </a:r>
            <a:endParaRPr lang="en-US" sz="1100" dirty="0"/>
          </a:p>
        </p:txBody>
      </p:sp>
      <p:sp>
        <p:nvSpPr>
          <p:cNvPr id="18" name="Text 16"/>
          <p:cNvSpPr/>
          <p:nvPr/>
        </p:nvSpPr>
        <p:spPr>
          <a:xfrm>
            <a:off x="3749040" y="1856232"/>
            <a:ext cx="1463040" cy="804672"/>
          </a:xfrm>
          <a:prstGeom prst="rect">
            <a:avLst/>
          </a:prstGeom>
          <a:noFill/>
          <a:ln/>
        </p:spPr>
        <p:txBody>
          <a:bodyPr wrap="square" lIns="0" tIns="0" rIns="0" bIns="0" rtlCol="0" anchor="t"/>
          <a:lstStyle/>
          <a:p>
            <a:pPr marL="0" indent="0" algn="ctr">
              <a:buNone/>
            </a:pPr>
            <a:r>
              <a:rPr lang="en-US" sz="1000" dirty="0">
                <a:solidFill>
                  <a:srgbClr val="445577"/>
                </a:solidFill>
              </a:rPr>
              <a:t>8 curated pathology</a:t>
            </a:r>
            <a:endParaRPr lang="en-US" sz="1000" dirty="0"/>
          </a:p>
          <a:p>
            <a:pPr marL="0" indent="0" algn="ctr">
              <a:buNone/>
            </a:pPr>
            <a:r>
              <a:rPr lang="en-US" sz="1000" dirty="0">
                <a:solidFill>
                  <a:srgbClr val="445577"/>
                </a:solidFill>
              </a:rPr>
              <a:t>topics with tags</a:t>
            </a:r>
            <a:endParaRPr lang="en-US" sz="1000" dirty="0"/>
          </a:p>
        </p:txBody>
      </p:sp>
      <p:sp>
        <p:nvSpPr>
          <p:cNvPr id="19" name="Shape 17"/>
          <p:cNvSpPr/>
          <p:nvPr/>
        </p:nvSpPr>
        <p:spPr>
          <a:xfrm>
            <a:off x="5440680" y="868680"/>
            <a:ext cx="1554480" cy="1874520"/>
          </a:xfrm>
          <a:prstGeom prst="rect">
            <a:avLst/>
          </a:prstGeom>
          <a:solidFill>
            <a:srgbClr val="FFFFFF"/>
          </a:solidFill>
          <a:ln w="12700">
            <a:solidFill>
              <a:srgbClr val="C5D8FF"/>
            </a:solidFill>
            <a:prstDash val="solid"/>
          </a:ln>
          <a:effectLst>
            <a:outerShdw blurRad="101600" dist="25400" dir="8100000" algn="bl" rotWithShape="0">
              <a:srgbClr val="000000">
                <a:alpha val="18000"/>
              </a:srgbClr>
            </a:outerShdw>
          </a:effectLst>
        </p:spPr>
      </p:sp>
      <p:sp>
        <p:nvSpPr>
          <p:cNvPr id="20" name="Shape 18"/>
          <p:cNvSpPr/>
          <p:nvPr/>
        </p:nvSpPr>
        <p:spPr>
          <a:xfrm>
            <a:off x="5989320" y="960120"/>
            <a:ext cx="457200" cy="457200"/>
          </a:xfrm>
          <a:prstGeom prst="ellipse">
            <a:avLst/>
          </a:prstGeom>
          <a:solidFill>
            <a:srgbClr val="16305C"/>
          </a:solidFill>
          <a:ln w="12700">
            <a:solidFill>
              <a:srgbClr val="16305C"/>
            </a:solidFill>
            <a:prstDash val="solid"/>
          </a:ln>
        </p:spPr>
      </p:sp>
      <p:sp>
        <p:nvSpPr>
          <p:cNvPr id="21" name="Text 19"/>
          <p:cNvSpPr/>
          <p:nvPr/>
        </p:nvSpPr>
        <p:spPr>
          <a:xfrm>
            <a:off x="5989320" y="960120"/>
            <a:ext cx="457200" cy="457200"/>
          </a:xfrm>
          <a:prstGeom prst="rect">
            <a:avLst/>
          </a:prstGeom>
          <a:noFill/>
          <a:ln/>
        </p:spPr>
        <p:txBody>
          <a:bodyPr wrap="square" lIns="0" tIns="0" rIns="0" bIns="0" rtlCol="0" anchor="ctr"/>
          <a:lstStyle/>
          <a:p>
            <a:pPr marL="0" indent="0" algn="ctr">
              <a:buNone/>
            </a:pPr>
            <a:r>
              <a:rPr lang="en-US" sz="1800" dirty="0">
                <a:solidFill>
                  <a:srgbClr val="000000"/>
                </a:solidFill>
              </a:rPr>
              <a:t>🤖</a:t>
            </a:r>
            <a:endParaRPr lang="en-US" sz="1800" dirty="0"/>
          </a:p>
        </p:txBody>
      </p:sp>
      <p:sp>
        <p:nvSpPr>
          <p:cNvPr id="22" name="Text 20"/>
          <p:cNvSpPr/>
          <p:nvPr/>
        </p:nvSpPr>
        <p:spPr>
          <a:xfrm>
            <a:off x="5486400" y="1490472"/>
            <a:ext cx="1463040" cy="347472"/>
          </a:xfrm>
          <a:prstGeom prst="rect">
            <a:avLst/>
          </a:prstGeom>
          <a:noFill/>
          <a:ln/>
        </p:spPr>
        <p:txBody>
          <a:bodyPr wrap="square" lIns="0" tIns="0" rIns="0" bIns="0" rtlCol="0" anchor="ctr"/>
          <a:lstStyle/>
          <a:p>
            <a:pPr marL="0" indent="0" algn="ctr">
              <a:buNone/>
            </a:pPr>
            <a:r>
              <a:rPr lang="en-US" sz="1100" b="1" dirty="0">
                <a:solidFill>
                  <a:srgbClr val="16305C"/>
                </a:solidFill>
              </a:rPr>
              <a:t>AI Chatbot</a:t>
            </a:r>
            <a:endParaRPr lang="en-US" sz="1100" dirty="0"/>
          </a:p>
        </p:txBody>
      </p:sp>
      <p:sp>
        <p:nvSpPr>
          <p:cNvPr id="23" name="Text 21"/>
          <p:cNvSpPr/>
          <p:nvPr/>
        </p:nvSpPr>
        <p:spPr>
          <a:xfrm>
            <a:off x="5486400" y="1856232"/>
            <a:ext cx="1463040" cy="804672"/>
          </a:xfrm>
          <a:prstGeom prst="rect">
            <a:avLst/>
          </a:prstGeom>
          <a:noFill/>
          <a:ln/>
        </p:spPr>
        <p:txBody>
          <a:bodyPr wrap="square" lIns="0" tIns="0" rIns="0" bIns="0" rtlCol="0" anchor="t"/>
          <a:lstStyle/>
          <a:p>
            <a:pPr marL="0" indent="0" algn="ctr">
              <a:buNone/>
            </a:pPr>
            <a:r>
              <a:rPr lang="en-US" sz="1000" dirty="0">
                <a:solidFill>
                  <a:srgbClr val="445577"/>
                </a:solidFill>
              </a:rPr>
              <a:t>GPT-4o-mini +</a:t>
            </a:r>
            <a:endParaRPr lang="en-US" sz="1000" dirty="0"/>
          </a:p>
          <a:p>
            <a:pPr marL="0" indent="0" algn="ctr">
              <a:buNone/>
            </a:pPr>
            <a:r>
              <a:rPr lang="en-US" sz="1000" dirty="0">
                <a:solidFill>
                  <a:srgbClr val="445577"/>
                </a:solidFill>
              </a:rPr>
              <a:t>offline fallback</a:t>
            </a:r>
            <a:endParaRPr lang="en-US" sz="1000" dirty="0"/>
          </a:p>
        </p:txBody>
      </p:sp>
      <p:sp>
        <p:nvSpPr>
          <p:cNvPr id="24" name="Shape 22"/>
          <p:cNvSpPr/>
          <p:nvPr/>
        </p:nvSpPr>
        <p:spPr>
          <a:xfrm>
            <a:off x="7178040" y="868680"/>
            <a:ext cx="1554480" cy="1874520"/>
          </a:xfrm>
          <a:prstGeom prst="rect">
            <a:avLst/>
          </a:prstGeom>
          <a:solidFill>
            <a:srgbClr val="FFFFFF"/>
          </a:solidFill>
          <a:ln w="12700">
            <a:solidFill>
              <a:srgbClr val="C5D8FF"/>
            </a:solidFill>
            <a:prstDash val="solid"/>
          </a:ln>
          <a:effectLst>
            <a:outerShdw blurRad="101600" dist="25400" dir="8100000" algn="bl" rotWithShape="0">
              <a:srgbClr val="000000">
                <a:alpha val="18000"/>
              </a:srgbClr>
            </a:outerShdw>
          </a:effectLst>
        </p:spPr>
      </p:sp>
      <p:sp>
        <p:nvSpPr>
          <p:cNvPr id="25" name="Shape 23"/>
          <p:cNvSpPr/>
          <p:nvPr/>
        </p:nvSpPr>
        <p:spPr>
          <a:xfrm>
            <a:off x="7726680" y="960120"/>
            <a:ext cx="457200" cy="457200"/>
          </a:xfrm>
          <a:prstGeom prst="ellipse">
            <a:avLst/>
          </a:prstGeom>
          <a:solidFill>
            <a:srgbClr val="16305C"/>
          </a:solidFill>
          <a:ln w="12700">
            <a:solidFill>
              <a:srgbClr val="16305C"/>
            </a:solidFill>
            <a:prstDash val="solid"/>
          </a:ln>
        </p:spPr>
      </p:sp>
      <p:sp>
        <p:nvSpPr>
          <p:cNvPr id="26" name="Text 24"/>
          <p:cNvSpPr/>
          <p:nvPr/>
        </p:nvSpPr>
        <p:spPr>
          <a:xfrm>
            <a:off x="7726680" y="960120"/>
            <a:ext cx="457200" cy="457200"/>
          </a:xfrm>
          <a:prstGeom prst="rect">
            <a:avLst/>
          </a:prstGeom>
          <a:noFill/>
          <a:ln/>
        </p:spPr>
        <p:txBody>
          <a:bodyPr wrap="square" lIns="0" tIns="0" rIns="0" bIns="0" rtlCol="0" anchor="ctr"/>
          <a:lstStyle/>
          <a:p>
            <a:pPr marL="0" indent="0" algn="ctr">
              <a:buNone/>
            </a:pPr>
            <a:r>
              <a:rPr lang="en-US" sz="1800" dirty="0">
                <a:solidFill>
                  <a:srgbClr val="000000"/>
                </a:solidFill>
              </a:rPr>
              <a:t>📝</a:t>
            </a:r>
            <a:endParaRPr lang="en-US" sz="1800" dirty="0"/>
          </a:p>
        </p:txBody>
      </p:sp>
      <p:sp>
        <p:nvSpPr>
          <p:cNvPr id="27" name="Text 25"/>
          <p:cNvSpPr/>
          <p:nvPr/>
        </p:nvSpPr>
        <p:spPr>
          <a:xfrm>
            <a:off x="7223760" y="1490472"/>
            <a:ext cx="1463040" cy="347472"/>
          </a:xfrm>
          <a:prstGeom prst="rect">
            <a:avLst/>
          </a:prstGeom>
          <a:noFill/>
          <a:ln/>
        </p:spPr>
        <p:txBody>
          <a:bodyPr wrap="square" lIns="0" tIns="0" rIns="0" bIns="0" rtlCol="0" anchor="ctr"/>
          <a:lstStyle/>
          <a:p>
            <a:pPr marL="0" indent="0" algn="ctr">
              <a:buNone/>
            </a:pPr>
            <a:r>
              <a:rPr lang="en-US" sz="1100" b="1" dirty="0">
                <a:solidFill>
                  <a:srgbClr val="16305C"/>
                </a:solidFill>
              </a:rPr>
              <a:t>Smart Quizzes</a:t>
            </a:r>
            <a:endParaRPr lang="en-US" sz="1100" dirty="0"/>
          </a:p>
        </p:txBody>
      </p:sp>
      <p:sp>
        <p:nvSpPr>
          <p:cNvPr id="28" name="Text 26"/>
          <p:cNvSpPr/>
          <p:nvPr/>
        </p:nvSpPr>
        <p:spPr>
          <a:xfrm>
            <a:off x="7223760" y="1856232"/>
            <a:ext cx="1463040" cy="804672"/>
          </a:xfrm>
          <a:prstGeom prst="rect">
            <a:avLst/>
          </a:prstGeom>
          <a:noFill/>
          <a:ln/>
        </p:spPr>
        <p:txBody>
          <a:bodyPr wrap="square" lIns="0" tIns="0" rIns="0" bIns="0" rtlCol="0" anchor="t"/>
          <a:lstStyle/>
          <a:p>
            <a:pPr marL="0" indent="0" algn="ctr">
              <a:buNone/>
            </a:pPr>
            <a:r>
              <a:rPr lang="en-US" sz="1000" dirty="0">
                <a:solidFill>
                  <a:srgbClr val="445577"/>
                </a:solidFill>
              </a:rPr>
              <a:t>Topic, mixed, PDF-gen,</a:t>
            </a:r>
            <a:endParaRPr lang="en-US" sz="1000" dirty="0"/>
          </a:p>
          <a:p>
            <a:pPr marL="0" indent="0" algn="ctr">
              <a:buNone/>
            </a:pPr>
            <a:r>
              <a:rPr lang="en-US" sz="1000" dirty="0">
                <a:solidFill>
                  <a:srgbClr val="445577"/>
                </a:solidFill>
              </a:rPr>
              <a:t>timer, confetti</a:t>
            </a:r>
            <a:endParaRPr lang="en-US" sz="1000" dirty="0"/>
          </a:p>
        </p:txBody>
      </p:sp>
      <p:sp>
        <p:nvSpPr>
          <p:cNvPr id="29" name="Shape 27"/>
          <p:cNvSpPr/>
          <p:nvPr/>
        </p:nvSpPr>
        <p:spPr>
          <a:xfrm>
            <a:off x="228600" y="2926080"/>
            <a:ext cx="1554480" cy="1874520"/>
          </a:xfrm>
          <a:prstGeom prst="rect">
            <a:avLst/>
          </a:prstGeom>
          <a:solidFill>
            <a:srgbClr val="FFFFFF"/>
          </a:solidFill>
          <a:ln w="12700">
            <a:solidFill>
              <a:srgbClr val="C5D8FF"/>
            </a:solidFill>
            <a:prstDash val="solid"/>
          </a:ln>
          <a:effectLst>
            <a:outerShdw blurRad="101600" dist="25400" dir="8100000" algn="bl" rotWithShape="0">
              <a:srgbClr val="000000">
                <a:alpha val="18000"/>
              </a:srgbClr>
            </a:outerShdw>
          </a:effectLst>
        </p:spPr>
      </p:sp>
      <p:sp>
        <p:nvSpPr>
          <p:cNvPr id="30" name="Shape 28"/>
          <p:cNvSpPr/>
          <p:nvPr/>
        </p:nvSpPr>
        <p:spPr>
          <a:xfrm>
            <a:off x="777240" y="3017520"/>
            <a:ext cx="457200" cy="457200"/>
          </a:xfrm>
          <a:prstGeom prst="ellipse">
            <a:avLst/>
          </a:prstGeom>
          <a:solidFill>
            <a:srgbClr val="16305C"/>
          </a:solidFill>
          <a:ln w="12700">
            <a:solidFill>
              <a:srgbClr val="16305C"/>
            </a:solidFill>
            <a:prstDash val="solid"/>
          </a:ln>
        </p:spPr>
      </p:sp>
      <p:sp>
        <p:nvSpPr>
          <p:cNvPr id="31" name="Text 29"/>
          <p:cNvSpPr/>
          <p:nvPr/>
        </p:nvSpPr>
        <p:spPr>
          <a:xfrm>
            <a:off x="777240" y="3017520"/>
            <a:ext cx="457200" cy="457200"/>
          </a:xfrm>
          <a:prstGeom prst="rect">
            <a:avLst/>
          </a:prstGeom>
          <a:noFill/>
          <a:ln/>
        </p:spPr>
        <p:txBody>
          <a:bodyPr wrap="square" lIns="0" tIns="0" rIns="0" bIns="0" rtlCol="0" anchor="ctr"/>
          <a:lstStyle/>
          <a:p>
            <a:pPr marL="0" indent="0" algn="ctr">
              <a:buNone/>
            </a:pPr>
            <a:r>
              <a:rPr lang="en-US" sz="1800" dirty="0">
                <a:solidFill>
                  <a:srgbClr val="000000"/>
                </a:solidFill>
              </a:rPr>
              <a:t>📄</a:t>
            </a:r>
            <a:endParaRPr lang="en-US" sz="1800" dirty="0"/>
          </a:p>
        </p:txBody>
      </p:sp>
      <p:sp>
        <p:nvSpPr>
          <p:cNvPr id="32" name="Text 30"/>
          <p:cNvSpPr/>
          <p:nvPr/>
        </p:nvSpPr>
        <p:spPr>
          <a:xfrm>
            <a:off x="274320" y="3547872"/>
            <a:ext cx="1463040" cy="347472"/>
          </a:xfrm>
          <a:prstGeom prst="rect">
            <a:avLst/>
          </a:prstGeom>
          <a:noFill/>
          <a:ln/>
        </p:spPr>
        <p:txBody>
          <a:bodyPr wrap="square" lIns="0" tIns="0" rIns="0" bIns="0" rtlCol="0" anchor="ctr"/>
          <a:lstStyle/>
          <a:p>
            <a:pPr marL="0" indent="0" algn="ctr">
              <a:buNone/>
            </a:pPr>
            <a:r>
              <a:rPr lang="en-US" sz="1100" b="1" dirty="0">
                <a:solidFill>
                  <a:srgbClr val="16305C"/>
                </a:solidFill>
              </a:rPr>
              <a:t>PDF→Quiz</a:t>
            </a:r>
            <a:endParaRPr lang="en-US" sz="1100" dirty="0"/>
          </a:p>
        </p:txBody>
      </p:sp>
      <p:sp>
        <p:nvSpPr>
          <p:cNvPr id="33" name="Text 31"/>
          <p:cNvSpPr/>
          <p:nvPr/>
        </p:nvSpPr>
        <p:spPr>
          <a:xfrm>
            <a:off x="274320" y="3913632"/>
            <a:ext cx="1463040" cy="804672"/>
          </a:xfrm>
          <a:prstGeom prst="rect">
            <a:avLst/>
          </a:prstGeom>
          <a:noFill/>
          <a:ln/>
        </p:spPr>
        <p:txBody>
          <a:bodyPr wrap="square" lIns="0" tIns="0" rIns="0" bIns="0" rtlCol="0" anchor="t"/>
          <a:lstStyle/>
          <a:p>
            <a:pPr marL="0" indent="0" algn="ctr">
              <a:buNone/>
            </a:pPr>
            <a:r>
              <a:rPr lang="en-US" sz="1000" dirty="0">
                <a:solidFill>
                  <a:srgbClr val="445577"/>
                </a:solidFill>
              </a:rPr>
              <a:t>Auto MCQ generation</a:t>
            </a:r>
            <a:endParaRPr lang="en-US" sz="1000" dirty="0"/>
          </a:p>
          <a:p>
            <a:pPr marL="0" indent="0" algn="ctr">
              <a:buNone/>
            </a:pPr>
            <a:r>
              <a:rPr lang="en-US" sz="1000" dirty="0">
                <a:solidFill>
                  <a:srgbClr val="445577"/>
                </a:solidFill>
              </a:rPr>
              <a:t>from faculty uploads</a:t>
            </a:r>
            <a:endParaRPr lang="en-US" sz="1000" dirty="0"/>
          </a:p>
        </p:txBody>
      </p:sp>
      <p:sp>
        <p:nvSpPr>
          <p:cNvPr id="34" name="Shape 32"/>
          <p:cNvSpPr/>
          <p:nvPr/>
        </p:nvSpPr>
        <p:spPr>
          <a:xfrm>
            <a:off x="1965960" y="2926080"/>
            <a:ext cx="1554480" cy="1874520"/>
          </a:xfrm>
          <a:prstGeom prst="rect">
            <a:avLst/>
          </a:prstGeom>
          <a:solidFill>
            <a:srgbClr val="FFFFFF"/>
          </a:solidFill>
          <a:ln w="12700">
            <a:solidFill>
              <a:srgbClr val="C5D8FF"/>
            </a:solidFill>
            <a:prstDash val="solid"/>
          </a:ln>
          <a:effectLst>
            <a:outerShdw blurRad="101600" dist="25400" dir="8100000" algn="bl" rotWithShape="0">
              <a:srgbClr val="000000">
                <a:alpha val="18000"/>
              </a:srgbClr>
            </a:outerShdw>
          </a:effectLst>
        </p:spPr>
      </p:sp>
      <p:sp>
        <p:nvSpPr>
          <p:cNvPr id="35" name="Shape 33"/>
          <p:cNvSpPr/>
          <p:nvPr/>
        </p:nvSpPr>
        <p:spPr>
          <a:xfrm>
            <a:off x="2514600" y="3017520"/>
            <a:ext cx="457200" cy="457200"/>
          </a:xfrm>
          <a:prstGeom prst="ellipse">
            <a:avLst/>
          </a:prstGeom>
          <a:solidFill>
            <a:srgbClr val="16305C"/>
          </a:solidFill>
          <a:ln w="12700">
            <a:solidFill>
              <a:srgbClr val="16305C"/>
            </a:solidFill>
            <a:prstDash val="solid"/>
          </a:ln>
        </p:spPr>
      </p:sp>
      <p:sp>
        <p:nvSpPr>
          <p:cNvPr id="36" name="Text 34"/>
          <p:cNvSpPr/>
          <p:nvPr/>
        </p:nvSpPr>
        <p:spPr>
          <a:xfrm>
            <a:off x="2514600" y="3017520"/>
            <a:ext cx="457200" cy="457200"/>
          </a:xfrm>
          <a:prstGeom prst="rect">
            <a:avLst/>
          </a:prstGeom>
          <a:noFill/>
          <a:ln/>
        </p:spPr>
        <p:txBody>
          <a:bodyPr wrap="square" lIns="0" tIns="0" rIns="0" bIns="0" rtlCol="0" anchor="ctr"/>
          <a:lstStyle/>
          <a:p>
            <a:pPr marL="0" indent="0" algn="ctr">
              <a:buNone/>
            </a:pPr>
            <a:r>
              <a:rPr lang="en-US" sz="1800" dirty="0">
                <a:solidFill>
                  <a:srgbClr val="000000"/>
                </a:solidFill>
              </a:rPr>
              <a:t>📊</a:t>
            </a:r>
            <a:endParaRPr lang="en-US" sz="1800" dirty="0"/>
          </a:p>
        </p:txBody>
      </p:sp>
      <p:sp>
        <p:nvSpPr>
          <p:cNvPr id="37" name="Text 35"/>
          <p:cNvSpPr/>
          <p:nvPr/>
        </p:nvSpPr>
        <p:spPr>
          <a:xfrm>
            <a:off x="2011680" y="3547872"/>
            <a:ext cx="1463040" cy="347472"/>
          </a:xfrm>
          <a:prstGeom prst="rect">
            <a:avLst/>
          </a:prstGeom>
          <a:noFill/>
          <a:ln/>
        </p:spPr>
        <p:txBody>
          <a:bodyPr wrap="square" lIns="0" tIns="0" rIns="0" bIns="0" rtlCol="0" anchor="ctr"/>
          <a:lstStyle/>
          <a:p>
            <a:pPr marL="0" indent="0" algn="ctr">
              <a:buNone/>
            </a:pPr>
            <a:r>
              <a:rPr lang="en-US" sz="1100" b="1" dirty="0">
                <a:solidFill>
                  <a:srgbClr val="16305C"/>
                </a:solidFill>
              </a:rPr>
              <a:t>Reports</a:t>
            </a:r>
            <a:endParaRPr lang="en-US" sz="1100" dirty="0"/>
          </a:p>
        </p:txBody>
      </p:sp>
      <p:sp>
        <p:nvSpPr>
          <p:cNvPr id="38" name="Text 36"/>
          <p:cNvSpPr/>
          <p:nvPr/>
        </p:nvSpPr>
        <p:spPr>
          <a:xfrm>
            <a:off x="2011680" y="3913632"/>
            <a:ext cx="1463040" cy="804672"/>
          </a:xfrm>
          <a:prstGeom prst="rect">
            <a:avLst/>
          </a:prstGeom>
          <a:noFill/>
          <a:ln/>
        </p:spPr>
        <p:txBody>
          <a:bodyPr wrap="square" lIns="0" tIns="0" rIns="0" bIns="0" rtlCol="0" anchor="t"/>
          <a:lstStyle/>
          <a:p>
            <a:pPr marL="0" indent="0" algn="ctr">
              <a:buNone/>
            </a:pPr>
            <a:r>
              <a:rPr lang="en-US" sz="1000" dirty="0">
                <a:solidFill>
                  <a:srgbClr val="445577"/>
                </a:solidFill>
              </a:rPr>
              <a:t>Class analytics,</a:t>
            </a:r>
            <a:endParaRPr lang="en-US" sz="1000" dirty="0"/>
          </a:p>
          <a:p>
            <a:pPr marL="0" indent="0" algn="ctr">
              <a:buNone/>
            </a:pPr>
            <a:r>
              <a:rPr lang="en-US" sz="1000" dirty="0">
                <a:solidFill>
                  <a:srgbClr val="445577"/>
                </a:solidFill>
              </a:rPr>
              <a:t>grade distribution</a:t>
            </a:r>
            <a:endParaRPr lang="en-US" sz="1000" dirty="0"/>
          </a:p>
        </p:txBody>
      </p:sp>
      <p:sp>
        <p:nvSpPr>
          <p:cNvPr id="39" name="Shape 37"/>
          <p:cNvSpPr/>
          <p:nvPr/>
        </p:nvSpPr>
        <p:spPr>
          <a:xfrm>
            <a:off x="3703320" y="2926080"/>
            <a:ext cx="1554480" cy="1874520"/>
          </a:xfrm>
          <a:prstGeom prst="rect">
            <a:avLst/>
          </a:prstGeom>
          <a:solidFill>
            <a:srgbClr val="FFFFFF"/>
          </a:solidFill>
          <a:ln w="12700">
            <a:solidFill>
              <a:srgbClr val="C5D8FF"/>
            </a:solidFill>
            <a:prstDash val="solid"/>
          </a:ln>
          <a:effectLst>
            <a:outerShdw blurRad="101600" dist="25400" dir="8100000" algn="bl" rotWithShape="0">
              <a:srgbClr val="000000">
                <a:alpha val="18000"/>
              </a:srgbClr>
            </a:outerShdw>
          </a:effectLst>
        </p:spPr>
      </p:sp>
      <p:sp>
        <p:nvSpPr>
          <p:cNvPr id="40" name="Shape 38"/>
          <p:cNvSpPr/>
          <p:nvPr/>
        </p:nvSpPr>
        <p:spPr>
          <a:xfrm>
            <a:off x="4251960" y="3017520"/>
            <a:ext cx="457200" cy="457200"/>
          </a:xfrm>
          <a:prstGeom prst="ellipse">
            <a:avLst/>
          </a:prstGeom>
          <a:solidFill>
            <a:srgbClr val="16305C"/>
          </a:solidFill>
          <a:ln w="12700">
            <a:solidFill>
              <a:srgbClr val="16305C"/>
            </a:solidFill>
            <a:prstDash val="solid"/>
          </a:ln>
        </p:spPr>
      </p:sp>
      <p:sp>
        <p:nvSpPr>
          <p:cNvPr id="41" name="Text 39"/>
          <p:cNvSpPr/>
          <p:nvPr/>
        </p:nvSpPr>
        <p:spPr>
          <a:xfrm>
            <a:off x="4251960" y="3017520"/>
            <a:ext cx="457200" cy="457200"/>
          </a:xfrm>
          <a:prstGeom prst="rect">
            <a:avLst/>
          </a:prstGeom>
          <a:noFill/>
          <a:ln/>
        </p:spPr>
        <p:txBody>
          <a:bodyPr wrap="square" lIns="0" tIns="0" rIns="0" bIns="0" rtlCol="0" anchor="ctr"/>
          <a:lstStyle/>
          <a:p>
            <a:pPr marL="0" indent="0" algn="ctr">
              <a:buNone/>
            </a:pPr>
            <a:r>
              <a:rPr lang="en-US" sz="1800" dirty="0">
                <a:solidFill>
                  <a:srgbClr val="000000"/>
                </a:solidFill>
              </a:rPr>
              <a:t>🏆</a:t>
            </a:r>
            <a:endParaRPr lang="en-US" sz="1800" dirty="0"/>
          </a:p>
        </p:txBody>
      </p:sp>
      <p:sp>
        <p:nvSpPr>
          <p:cNvPr id="42" name="Text 40"/>
          <p:cNvSpPr/>
          <p:nvPr/>
        </p:nvSpPr>
        <p:spPr>
          <a:xfrm>
            <a:off x="3749040" y="3547872"/>
            <a:ext cx="1463040" cy="347472"/>
          </a:xfrm>
          <a:prstGeom prst="rect">
            <a:avLst/>
          </a:prstGeom>
          <a:noFill/>
          <a:ln/>
        </p:spPr>
        <p:txBody>
          <a:bodyPr wrap="square" lIns="0" tIns="0" rIns="0" bIns="0" rtlCol="0" anchor="ctr"/>
          <a:lstStyle/>
          <a:p>
            <a:pPr marL="0" indent="0" algn="ctr">
              <a:buNone/>
            </a:pPr>
            <a:r>
              <a:rPr lang="en-US" sz="1100" b="1" dirty="0">
                <a:solidFill>
                  <a:srgbClr val="16305C"/>
                </a:solidFill>
              </a:rPr>
              <a:t>Gamification</a:t>
            </a:r>
            <a:endParaRPr lang="en-US" sz="1100" dirty="0"/>
          </a:p>
        </p:txBody>
      </p:sp>
      <p:sp>
        <p:nvSpPr>
          <p:cNvPr id="43" name="Text 41"/>
          <p:cNvSpPr/>
          <p:nvPr/>
        </p:nvSpPr>
        <p:spPr>
          <a:xfrm>
            <a:off x="3749040" y="3913632"/>
            <a:ext cx="1463040" cy="804672"/>
          </a:xfrm>
          <a:prstGeom prst="rect">
            <a:avLst/>
          </a:prstGeom>
          <a:noFill/>
          <a:ln/>
        </p:spPr>
        <p:txBody>
          <a:bodyPr wrap="square" lIns="0" tIns="0" rIns="0" bIns="0" rtlCol="0" anchor="t"/>
          <a:lstStyle/>
          <a:p>
            <a:pPr marL="0" indent="0" algn="ctr">
              <a:buNone/>
            </a:pPr>
            <a:r>
              <a:rPr lang="en-US" sz="1000" dirty="0">
                <a:solidFill>
                  <a:srgbClr val="445577"/>
                </a:solidFill>
              </a:rPr>
              <a:t>Streaks, badges,</a:t>
            </a:r>
            <a:endParaRPr lang="en-US" sz="1000" dirty="0"/>
          </a:p>
          <a:p>
            <a:pPr marL="0" indent="0" algn="ctr">
              <a:buNone/>
            </a:pPr>
            <a:r>
              <a:rPr lang="en-US" sz="1000" dirty="0">
                <a:solidFill>
                  <a:srgbClr val="445577"/>
                </a:solidFill>
              </a:rPr>
              <a:t>achievements</a:t>
            </a:r>
            <a:endParaRPr lang="en-US" sz="1000" dirty="0"/>
          </a:p>
        </p:txBody>
      </p:sp>
      <p:sp>
        <p:nvSpPr>
          <p:cNvPr id="44" name="Shape 42"/>
          <p:cNvSpPr/>
          <p:nvPr/>
        </p:nvSpPr>
        <p:spPr>
          <a:xfrm>
            <a:off x="5440680" y="2926080"/>
            <a:ext cx="1554480" cy="1874520"/>
          </a:xfrm>
          <a:prstGeom prst="rect">
            <a:avLst/>
          </a:prstGeom>
          <a:solidFill>
            <a:srgbClr val="FFFFFF"/>
          </a:solidFill>
          <a:ln w="12700">
            <a:solidFill>
              <a:srgbClr val="C5D8FF"/>
            </a:solidFill>
            <a:prstDash val="solid"/>
          </a:ln>
          <a:effectLst>
            <a:outerShdw blurRad="101600" dist="25400" dir="8100000" algn="bl" rotWithShape="0">
              <a:srgbClr val="000000">
                <a:alpha val="18000"/>
              </a:srgbClr>
            </a:outerShdw>
          </a:effectLst>
        </p:spPr>
      </p:sp>
      <p:sp>
        <p:nvSpPr>
          <p:cNvPr id="45" name="Shape 43"/>
          <p:cNvSpPr/>
          <p:nvPr/>
        </p:nvSpPr>
        <p:spPr>
          <a:xfrm>
            <a:off x="5989320" y="3017520"/>
            <a:ext cx="457200" cy="457200"/>
          </a:xfrm>
          <a:prstGeom prst="ellipse">
            <a:avLst/>
          </a:prstGeom>
          <a:solidFill>
            <a:srgbClr val="16305C"/>
          </a:solidFill>
          <a:ln w="12700">
            <a:solidFill>
              <a:srgbClr val="16305C"/>
            </a:solidFill>
            <a:prstDash val="solid"/>
          </a:ln>
        </p:spPr>
      </p:sp>
      <p:sp>
        <p:nvSpPr>
          <p:cNvPr id="46" name="Text 44"/>
          <p:cNvSpPr/>
          <p:nvPr/>
        </p:nvSpPr>
        <p:spPr>
          <a:xfrm>
            <a:off x="5989320" y="3017520"/>
            <a:ext cx="457200" cy="457200"/>
          </a:xfrm>
          <a:prstGeom prst="rect">
            <a:avLst/>
          </a:prstGeom>
          <a:noFill/>
          <a:ln/>
        </p:spPr>
        <p:txBody>
          <a:bodyPr wrap="square" lIns="0" tIns="0" rIns="0" bIns="0" rtlCol="0" anchor="ctr"/>
          <a:lstStyle/>
          <a:p>
            <a:pPr marL="0" indent="0" algn="ctr">
              <a:buNone/>
            </a:pPr>
            <a:r>
              <a:rPr lang="en-US" sz="1800" dirty="0">
                <a:solidFill>
                  <a:srgbClr val="000000"/>
                </a:solidFill>
              </a:rPr>
              <a:t>💡</a:t>
            </a:r>
            <a:endParaRPr lang="en-US" sz="1800" dirty="0"/>
          </a:p>
        </p:txBody>
      </p:sp>
      <p:sp>
        <p:nvSpPr>
          <p:cNvPr id="47" name="Text 45"/>
          <p:cNvSpPr/>
          <p:nvPr/>
        </p:nvSpPr>
        <p:spPr>
          <a:xfrm>
            <a:off x="5486400" y="3547872"/>
            <a:ext cx="1463040" cy="347472"/>
          </a:xfrm>
          <a:prstGeom prst="rect">
            <a:avLst/>
          </a:prstGeom>
          <a:noFill/>
          <a:ln/>
        </p:spPr>
        <p:txBody>
          <a:bodyPr wrap="square" lIns="0" tIns="0" rIns="0" bIns="0" rtlCol="0" anchor="ctr"/>
          <a:lstStyle/>
          <a:p>
            <a:pPr marL="0" indent="0" algn="ctr">
              <a:buNone/>
            </a:pPr>
            <a:r>
              <a:rPr lang="en-US" sz="1100" b="1" dirty="0">
                <a:solidFill>
                  <a:srgbClr val="16305C"/>
                </a:solidFill>
              </a:rPr>
              <a:t>Prompting Drills</a:t>
            </a:r>
            <a:endParaRPr lang="en-US" sz="1100" dirty="0"/>
          </a:p>
        </p:txBody>
      </p:sp>
      <p:sp>
        <p:nvSpPr>
          <p:cNvPr id="48" name="Text 46"/>
          <p:cNvSpPr/>
          <p:nvPr/>
        </p:nvSpPr>
        <p:spPr>
          <a:xfrm>
            <a:off x="5486400" y="3913632"/>
            <a:ext cx="1463040" cy="804672"/>
          </a:xfrm>
          <a:prstGeom prst="rect">
            <a:avLst/>
          </a:prstGeom>
          <a:noFill/>
          <a:ln/>
        </p:spPr>
        <p:txBody>
          <a:bodyPr wrap="square" lIns="0" tIns="0" rIns="0" bIns="0" rtlCol="0" anchor="t"/>
          <a:lstStyle/>
          <a:p>
            <a:pPr marL="0" indent="0" algn="ctr">
              <a:buNone/>
            </a:pPr>
            <a:r>
              <a:rPr lang="en-US" sz="1000" dirty="0">
                <a:solidFill>
                  <a:srgbClr val="445577"/>
                </a:solidFill>
              </a:rPr>
              <a:t>Clinical vignettes,</a:t>
            </a:r>
            <a:endParaRPr lang="en-US" sz="1000" dirty="0"/>
          </a:p>
          <a:p>
            <a:pPr marL="0" indent="0" algn="ctr">
              <a:buNone/>
            </a:pPr>
            <a:r>
              <a:rPr lang="en-US" sz="1000" dirty="0">
                <a:solidFill>
                  <a:srgbClr val="445577"/>
                </a:solidFill>
              </a:rPr>
              <a:t>keyword scoring</a:t>
            </a:r>
            <a:endParaRPr lang="en-US" sz="1000" dirty="0"/>
          </a:p>
        </p:txBody>
      </p:sp>
      <p:sp>
        <p:nvSpPr>
          <p:cNvPr id="49" name="Shape 47"/>
          <p:cNvSpPr/>
          <p:nvPr/>
        </p:nvSpPr>
        <p:spPr>
          <a:xfrm>
            <a:off x="7178040" y="2926080"/>
            <a:ext cx="1554480" cy="1874520"/>
          </a:xfrm>
          <a:prstGeom prst="rect">
            <a:avLst/>
          </a:prstGeom>
          <a:solidFill>
            <a:srgbClr val="FFFFFF"/>
          </a:solidFill>
          <a:ln w="12700">
            <a:solidFill>
              <a:srgbClr val="C5D8FF"/>
            </a:solidFill>
            <a:prstDash val="solid"/>
          </a:ln>
          <a:effectLst>
            <a:outerShdw blurRad="101600" dist="25400" dir="8100000" algn="bl" rotWithShape="0">
              <a:srgbClr val="000000">
                <a:alpha val="18000"/>
              </a:srgbClr>
            </a:outerShdw>
          </a:effectLst>
        </p:spPr>
      </p:sp>
      <p:sp>
        <p:nvSpPr>
          <p:cNvPr id="50" name="Shape 48"/>
          <p:cNvSpPr/>
          <p:nvPr/>
        </p:nvSpPr>
        <p:spPr>
          <a:xfrm>
            <a:off x="7726680" y="3017520"/>
            <a:ext cx="457200" cy="457200"/>
          </a:xfrm>
          <a:prstGeom prst="ellipse">
            <a:avLst/>
          </a:prstGeom>
          <a:solidFill>
            <a:srgbClr val="16305C"/>
          </a:solidFill>
          <a:ln w="12700">
            <a:solidFill>
              <a:srgbClr val="16305C"/>
            </a:solidFill>
            <a:prstDash val="solid"/>
          </a:ln>
        </p:spPr>
      </p:sp>
      <p:sp>
        <p:nvSpPr>
          <p:cNvPr id="51" name="Text 49"/>
          <p:cNvSpPr/>
          <p:nvPr/>
        </p:nvSpPr>
        <p:spPr>
          <a:xfrm>
            <a:off x="7726680" y="3017520"/>
            <a:ext cx="457200" cy="457200"/>
          </a:xfrm>
          <a:prstGeom prst="rect">
            <a:avLst/>
          </a:prstGeom>
          <a:noFill/>
          <a:ln/>
        </p:spPr>
        <p:txBody>
          <a:bodyPr wrap="square" lIns="0" tIns="0" rIns="0" bIns="0" rtlCol="0" anchor="ctr"/>
          <a:lstStyle/>
          <a:p>
            <a:pPr marL="0" indent="0" algn="ctr">
              <a:buNone/>
            </a:pPr>
            <a:r>
              <a:rPr lang="en-US" sz="1800" dirty="0">
                <a:solidFill>
                  <a:srgbClr val="000000"/>
                </a:solidFill>
              </a:rPr>
              <a:t>📱</a:t>
            </a:r>
            <a:endParaRPr lang="en-US" sz="1800" dirty="0"/>
          </a:p>
        </p:txBody>
      </p:sp>
      <p:sp>
        <p:nvSpPr>
          <p:cNvPr id="52" name="Text 50"/>
          <p:cNvSpPr/>
          <p:nvPr/>
        </p:nvSpPr>
        <p:spPr>
          <a:xfrm>
            <a:off x="7223760" y="3547872"/>
            <a:ext cx="1463040" cy="347472"/>
          </a:xfrm>
          <a:prstGeom prst="rect">
            <a:avLst/>
          </a:prstGeom>
          <a:noFill/>
          <a:ln/>
        </p:spPr>
        <p:txBody>
          <a:bodyPr wrap="square" lIns="0" tIns="0" rIns="0" bIns="0" rtlCol="0" anchor="ctr"/>
          <a:lstStyle/>
          <a:p>
            <a:pPr marL="0" indent="0" algn="ctr">
              <a:buNone/>
            </a:pPr>
            <a:r>
              <a:rPr lang="en-US" sz="1100" b="1" dirty="0">
                <a:solidFill>
                  <a:srgbClr val="16305C"/>
                </a:solidFill>
              </a:rPr>
              <a:t>PWA</a:t>
            </a:r>
            <a:endParaRPr lang="en-US" sz="1100" dirty="0"/>
          </a:p>
        </p:txBody>
      </p:sp>
      <p:sp>
        <p:nvSpPr>
          <p:cNvPr id="53" name="Text 51"/>
          <p:cNvSpPr/>
          <p:nvPr/>
        </p:nvSpPr>
        <p:spPr>
          <a:xfrm>
            <a:off x="7223760" y="3913632"/>
            <a:ext cx="1463040" cy="804672"/>
          </a:xfrm>
          <a:prstGeom prst="rect">
            <a:avLst/>
          </a:prstGeom>
          <a:noFill/>
          <a:ln/>
        </p:spPr>
        <p:txBody>
          <a:bodyPr wrap="square" lIns="0" tIns="0" rIns="0" bIns="0" rtlCol="0" anchor="t"/>
          <a:lstStyle/>
          <a:p>
            <a:pPr marL="0" indent="0" algn="ctr">
              <a:buNone/>
            </a:pPr>
            <a:r>
              <a:rPr lang="en-US" sz="1000" dirty="0">
                <a:solidFill>
                  <a:srgbClr val="445577"/>
                </a:solidFill>
              </a:rPr>
              <a:t>Installable, offline,</a:t>
            </a:r>
            <a:endParaRPr lang="en-US" sz="1000" dirty="0"/>
          </a:p>
          <a:p>
            <a:pPr marL="0" indent="0" algn="ctr">
              <a:buNone/>
            </a:pPr>
            <a:r>
              <a:rPr lang="en-US" sz="1000" dirty="0">
                <a:solidFill>
                  <a:srgbClr val="445577"/>
                </a:solidFill>
              </a:rPr>
              <a:t>no backend needed</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B40"/>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6305C"/>
          </a:solidFill>
          <a:ln w="12700">
            <a:solidFill>
              <a:srgbClr val="16305C"/>
            </a:solidFill>
            <a:prstDash val="solid"/>
          </a:ln>
        </p:spPr>
      </p:sp>
      <p:sp>
        <p:nvSpPr>
          <p:cNvPr id="3" name="Text 1"/>
          <p:cNvSpPr/>
          <p:nvPr/>
        </p:nvSpPr>
        <p:spPr>
          <a:xfrm>
            <a:off x="365760" y="0"/>
            <a:ext cx="8412480" cy="594360"/>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App Screenshot — Landing Page</a:t>
            </a:r>
            <a:endParaRPr lang="en-US" sz="2200" dirty="0"/>
          </a:p>
        </p:txBody>
      </p:sp>
      <p:pic>
        <p:nvPicPr>
          <p:cNvPr id="4" name="Image 0" descr="/home/claude/screenshots/landing.png"/>
          <p:cNvPicPr>
            <a:picLocks noChangeAspect="1"/>
          </p:cNvPicPr>
          <p:nvPr/>
        </p:nvPicPr>
        <p:blipFill>
          <a:blip r:embed="rId3"/>
          <a:stretch>
            <a:fillRect/>
          </a:stretch>
        </p:blipFill>
        <p:spPr>
          <a:xfrm>
            <a:off x="274320" y="685800"/>
            <a:ext cx="8595360" cy="4206240"/>
          </a:xfrm>
          <a:prstGeom prst="rect">
            <a:avLst/>
          </a:prstGeom>
          <a:effectLst>
            <a:outerShdw blurRad="101600" dist="25400" dir="8100000" algn="bl" rotWithShape="0">
              <a:srgbClr val="000000">
                <a:alpha val="18000"/>
              </a:srgbClr>
            </a:outerShdw>
          </a:effectLst>
        </p:spPr>
      </p:pic>
      <p:sp>
        <p:nvSpPr>
          <p:cNvPr id="5" name="Text 2"/>
          <p:cNvSpPr/>
          <p:nvPr/>
        </p:nvSpPr>
        <p:spPr>
          <a:xfrm>
            <a:off x="274320" y="4937760"/>
            <a:ext cx="8595360" cy="274320"/>
          </a:xfrm>
          <a:prstGeom prst="rect">
            <a:avLst/>
          </a:prstGeom>
          <a:noFill/>
          <a:ln/>
        </p:spPr>
        <p:txBody>
          <a:bodyPr wrap="square" lIns="0" tIns="0" rIns="0" bIns="0" rtlCol="0" anchor="ctr"/>
          <a:lstStyle/>
          <a:p>
            <a:pPr marL="0" indent="0" algn="ctr">
              <a:buNone/>
            </a:pPr>
            <a:r>
              <a:rPr lang="en-US" sz="1100" dirty="0">
                <a:solidFill>
                  <a:srgbClr val="19D3C5"/>
                </a:solidFill>
              </a:rPr>
              <a:t>Live at: https://abdulrehman942004.github.io/OralPathApp/</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B40"/>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E8F87"/>
          </a:solidFill>
          <a:ln w="12700">
            <a:solidFill>
              <a:srgbClr val="0E8F87"/>
            </a:solidFill>
            <a:prstDash val="solid"/>
          </a:ln>
        </p:spPr>
      </p:sp>
      <p:sp>
        <p:nvSpPr>
          <p:cNvPr id="3" name="Text 1"/>
          <p:cNvSpPr/>
          <p:nvPr/>
        </p:nvSpPr>
        <p:spPr>
          <a:xfrm>
            <a:off x="365760" y="0"/>
            <a:ext cx="8412480" cy="685800"/>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Technology Stack</a:t>
            </a:r>
            <a:endParaRPr lang="en-US" sz="2800" dirty="0"/>
          </a:p>
        </p:txBody>
      </p:sp>
      <p:sp>
        <p:nvSpPr>
          <p:cNvPr id="4" name="Shape 2"/>
          <p:cNvSpPr/>
          <p:nvPr/>
        </p:nvSpPr>
        <p:spPr>
          <a:xfrm>
            <a:off x="320040" y="822960"/>
            <a:ext cx="8503920" cy="448056"/>
          </a:xfrm>
          <a:prstGeom prst="rect">
            <a:avLst/>
          </a:prstGeom>
          <a:solidFill>
            <a:srgbClr val="16305C"/>
          </a:solidFill>
          <a:ln w="12700">
            <a:solidFill>
              <a:srgbClr val="1A3A8C"/>
            </a:solidFill>
            <a:prstDash val="solid"/>
          </a:ln>
        </p:spPr>
      </p:sp>
      <p:sp>
        <p:nvSpPr>
          <p:cNvPr id="5" name="Text 3"/>
          <p:cNvSpPr/>
          <p:nvPr/>
        </p:nvSpPr>
        <p:spPr>
          <a:xfrm>
            <a:off x="411480" y="822960"/>
            <a:ext cx="2286000" cy="448056"/>
          </a:xfrm>
          <a:prstGeom prst="rect">
            <a:avLst/>
          </a:prstGeom>
          <a:noFill/>
          <a:ln/>
        </p:spPr>
        <p:txBody>
          <a:bodyPr wrap="square" lIns="0" tIns="0" rIns="0" bIns="0" rtlCol="0" anchor="ctr"/>
          <a:lstStyle/>
          <a:p>
            <a:pPr marL="0" indent="0">
              <a:buNone/>
            </a:pPr>
            <a:r>
              <a:rPr lang="en-US" sz="1300" b="1" dirty="0">
                <a:solidFill>
                  <a:srgbClr val="19D3C5"/>
                </a:solidFill>
              </a:rPr>
              <a:t>⚛️ React 18</a:t>
            </a:r>
            <a:endParaRPr lang="en-US" sz="1300" dirty="0"/>
          </a:p>
        </p:txBody>
      </p:sp>
      <p:sp>
        <p:nvSpPr>
          <p:cNvPr id="6" name="Text 4"/>
          <p:cNvSpPr/>
          <p:nvPr/>
        </p:nvSpPr>
        <p:spPr>
          <a:xfrm>
            <a:off x="2697480" y="822960"/>
            <a:ext cx="6035040" cy="448056"/>
          </a:xfrm>
          <a:prstGeom prst="rect">
            <a:avLst/>
          </a:prstGeom>
          <a:noFill/>
          <a:ln/>
        </p:spPr>
        <p:txBody>
          <a:bodyPr wrap="square" lIns="0" tIns="0" rIns="0" bIns="0" rtlCol="0" anchor="ctr"/>
          <a:lstStyle/>
          <a:p>
            <a:pPr marL="0" indent="0">
              <a:buNone/>
            </a:pPr>
            <a:r>
              <a:rPr lang="en-US" sz="1200" dirty="0">
                <a:solidFill>
                  <a:srgbClr val="E8F0FE"/>
                </a:solidFill>
              </a:rPr>
              <a:t>SPA framework, hash router, hooks — bundled with esbuild</a:t>
            </a:r>
            <a:endParaRPr lang="en-US" sz="1200" dirty="0"/>
          </a:p>
        </p:txBody>
      </p:sp>
      <p:sp>
        <p:nvSpPr>
          <p:cNvPr id="7" name="Shape 5"/>
          <p:cNvSpPr/>
          <p:nvPr/>
        </p:nvSpPr>
        <p:spPr>
          <a:xfrm>
            <a:off x="320040" y="1344168"/>
            <a:ext cx="8503920" cy="448056"/>
          </a:xfrm>
          <a:prstGeom prst="rect">
            <a:avLst/>
          </a:prstGeom>
          <a:solidFill>
            <a:srgbClr val="0A1535"/>
          </a:solidFill>
          <a:ln w="12700">
            <a:solidFill>
              <a:srgbClr val="1A3A8C"/>
            </a:solidFill>
            <a:prstDash val="solid"/>
          </a:ln>
        </p:spPr>
      </p:sp>
      <p:sp>
        <p:nvSpPr>
          <p:cNvPr id="8" name="Text 6"/>
          <p:cNvSpPr/>
          <p:nvPr/>
        </p:nvSpPr>
        <p:spPr>
          <a:xfrm>
            <a:off x="411480" y="1344168"/>
            <a:ext cx="2286000" cy="448056"/>
          </a:xfrm>
          <a:prstGeom prst="rect">
            <a:avLst/>
          </a:prstGeom>
          <a:noFill/>
          <a:ln/>
        </p:spPr>
        <p:txBody>
          <a:bodyPr wrap="square" lIns="0" tIns="0" rIns="0" bIns="0" rtlCol="0" anchor="ctr"/>
          <a:lstStyle/>
          <a:p>
            <a:pPr marL="0" indent="0">
              <a:buNone/>
            </a:pPr>
            <a:r>
              <a:rPr lang="en-US" sz="1300" b="1" dirty="0">
                <a:solidFill>
                  <a:srgbClr val="19D3C5"/>
                </a:solidFill>
              </a:rPr>
              <a:t>🧊 model-viewer</a:t>
            </a:r>
            <a:endParaRPr lang="en-US" sz="1300" dirty="0"/>
          </a:p>
        </p:txBody>
      </p:sp>
      <p:sp>
        <p:nvSpPr>
          <p:cNvPr id="9" name="Text 7"/>
          <p:cNvSpPr/>
          <p:nvPr/>
        </p:nvSpPr>
        <p:spPr>
          <a:xfrm>
            <a:off x="2697480" y="1344168"/>
            <a:ext cx="6035040" cy="448056"/>
          </a:xfrm>
          <a:prstGeom prst="rect">
            <a:avLst/>
          </a:prstGeom>
          <a:noFill/>
          <a:ln/>
        </p:spPr>
        <p:txBody>
          <a:bodyPr wrap="square" lIns="0" tIns="0" rIns="0" bIns="0" rtlCol="0" anchor="ctr"/>
          <a:lstStyle/>
          <a:p>
            <a:pPr marL="0" indent="0">
              <a:buNone/>
            </a:pPr>
            <a:r>
              <a:rPr lang="en-US" sz="1200" dirty="0">
                <a:solidFill>
                  <a:srgbClr val="E8F0FE"/>
                </a:solidFill>
              </a:rPr>
              <a:t>Google WebXR component — handles ARCore, USDZ, glTF natively</a:t>
            </a:r>
            <a:endParaRPr lang="en-US" sz="1200" dirty="0"/>
          </a:p>
        </p:txBody>
      </p:sp>
      <p:sp>
        <p:nvSpPr>
          <p:cNvPr id="10" name="Shape 8"/>
          <p:cNvSpPr/>
          <p:nvPr/>
        </p:nvSpPr>
        <p:spPr>
          <a:xfrm>
            <a:off x="320040" y="1865376"/>
            <a:ext cx="8503920" cy="448056"/>
          </a:xfrm>
          <a:prstGeom prst="rect">
            <a:avLst/>
          </a:prstGeom>
          <a:solidFill>
            <a:srgbClr val="16305C"/>
          </a:solidFill>
          <a:ln w="12700">
            <a:solidFill>
              <a:srgbClr val="1A3A8C"/>
            </a:solidFill>
            <a:prstDash val="solid"/>
          </a:ln>
        </p:spPr>
      </p:sp>
      <p:sp>
        <p:nvSpPr>
          <p:cNvPr id="11" name="Text 9"/>
          <p:cNvSpPr/>
          <p:nvPr/>
        </p:nvSpPr>
        <p:spPr>
          <a:xfrm>
            <a:off x="411480" y="1865376"/>
            <a:ext cx="2286000" cy="448056"/>
          </a:xfrm>
          <a:prstGeom prst="rect">
            <a:avLst/>
          </a:prstGeom>
          <a:noFill/>
          <a:ln/>
        </p:spPr>
        <p:txBody>
          <a:bodyPr wrap="square" lIns="0" tIns="0" rIns="0" bIns="0" rtlCol="0" anchor="ctr"/>
          <a:lstStyle/>
          <a:p>
            <a:pPr marL="0" indent="0">
              <a:buNone/>
            </a:pPr>
            <a:r>
              <a:rPr lang="en-US" sz="1300" b="1" dirty="0">
                <a:solidFill>
                  <a:srgbClr val="19D3C5"/>
                </a:solidFill>
              </a:rPr>
              <a:t>📄 pdf.js</a:t>
            </a:r>
            <a:endParaRPr lang="en-US" sz="1300" dirty="0"/>
          </a:p>
        </p:txBody>
      </p:sp>
      <p:sp>
        <p:nvSpPr>
          <p:cNvPr id="12" name="Text 10"/>
          <p:cNvSpPr/>
          <p:nvPr/>
        </p:nvSpPr>
        <p:spPr>
          <a:xfrm>
            <a:off x="2697480" y="1865376"/>
            <a:ext cx="6035040" cy="448056"/>
          </a:xfrm>
          <a:prstGeom prst="rect">
            <a:avLst/>
          </a:prstGeom>
          <a:noFill/>
          <a:ln/>
        </p:spPr>
        <p:txBody>
          <a:bodyPr wrap="square" lIns="0" tIns="0" rIns="0" bIns="0" rtlCol="0" anchor="ctr"/>
          <a:lstStyle/>
          <a:p>
            <a:pPr marL="0" indent="0">
              <a:buNone/>
            </a:pPr>
            <a:r>
              <a:rPr lang="en-US" sz="1200" dirty="0">
                <a:solidFill>
                  <a:srgbClr val="E8F0FE"/>
                </a:solidFill>
              </a:rPr>
              <a:t>Mozilla PDF lib — lazy CDN load, in-browser text extraction</a:t>
            </a:r>
            <a:endParaRPr lang="en-US" sz="1200" dirty="0"/>
          </a:p>
        </p:txBody>
      </p:sp>
      <p:sp>
        <p:nvSpPr>
          <p:cNvPr id="13" name="Shape 11"/>
          <p:cNvSpPr/>
          <p:nvPr/>
        </p:nvSpPr>
        <p:spPr>
          <a:xfrm>
            <a:off x="320040" y="2386584"/>
            <a:ext cx="8503920" cy="448056"/>
          </a:xfrm>
          <a:prstGeom prst="rect">
            <a:avLst/>
          </a:prstGeom>
          <a:solidFill>
            <a:srgbClr val="0A1535"/>
          </a:solidFill>
          <a:ln w="12700">
            <a:solidFill>
              <a:srgbClr val="1A3A8C"/>
            </a:solidFill>
            <a:prstDash val="solid"/>
          </a:ln>
        </p:spPr>
      </p:sp>
      <p:sp>
        <p:nvSpPr>
          <p:cNvPr id="14" name="Text 12"/>
          <p:cNvSpPr/>
          <p:nvPr/>
        </p:nvSpPr>
        <p:spPr>
          <a:xfrm>
            <a:off x="411480" y="2386584"/>
            <a:ext cx="2286000" cy="448056"/>
          </a:xfrm>
          <a:prstGeom prst="rect">
            <a:avLst/>
          </a:prstGeom>
          <a:noFill/>
          <a:ln/>
        </p:spPr>
        <p:txBody>
          <a:bodyPr wrap="square" lIns="0" tIns="0" rIns="0" bIns="0" rtlCol="0" anchor="ctr"/>
          <a:lstStyle/>
          <a:p>
            <a:pPr marL="0" indent="0">
              <a:buNone/>
            </a:pPr>
            <a:r>
              <a:rPr lang="en-US" sz="1300" b="1" dirty="0">
                <a:solidFill>
                  <a:srgbClr val="19D3C5"/>
                </a:solidFill>
              </a:rPr>
              <a:t>🤖 OpenAI GPT-4o-mini</a:t>
            </a:r>
            <a:endParaRPr lang="en-US" sz="1300" dirty="0"/>
          </a:p>
        </p:txBody>
      </p:sp>
      <p:sp>
        <p:nvSpPr>
          <p:cNvPr id="15" name="Text 13"/>
          <p:cNvSpPr/>
          <p:nvPr/>
        </p:nvSpPr>
        <p:spPr>
          <a:xfrm>
            <a:off x="2697480" y="2386584"/>
            <a:ext cx="6035040" cy="448056"/>
          </a:xfrm>
          <a:prstGeom prst="rect">
            <a:avLst/>
          </a:prstGeom>
          <a:noFill/>
          <a:ln/>
        </p:spPr>
        <p:txBody>
          <a:bodyPr wrap="square" lIns="0" tIns="0" rIns="0" bIns="0" rtlCol="0" anchor="ctr"/>
          <a:lstStyle/>
          <a:p>
            <a:pPr marL="0" indent="0">
              <a:buNone/>
            </a:pPr>
            <a:r>
              <a:rPr lang="en-US" sz="1200" dirty="0">
                <a:solidFill>
                  <a:srgbClr val="E8F0FE"/>
                </a:solidFill>
              </a:rPr>
              <a:t>Chat completions + vision + structured JSON quiz output</a:t>
            </a:r>
            <a:endParaRPr lang="en-US" sz="1200" dirty="0"/>
          </a:p>
        </p:txBody>
      </p:sp>
      <p:sp>
        <p:nvSpPr>
          <p:cNvPr id="16" name="Shape 14"/>
          <p:cNvSpPr/>
          <p:nvPr/>
        </p:nvSpPr>
        <p:spPr>
          <a:xfrm>
            <a:off x="320040" y="2907792"/>
            <a:ext cx="8503920" cy="448056"/>
          </a:xfrm>
          <a:prstGeom prst="rect">
            <a:avLst/>
          </a:prstGeom>
          <a:solidFill>
            <a:srgbClr val="16305C"/>
          </a:solidFill>
          <a:ln w="12700">
            <a:solidFill>
              <a:srgbClr val="1A3A8C"/>
            </a:solidFill>
            <a:prstDash val="solid"/>
          </a:ln>
        </p:spPr>
      </p:sp>
      <p:sp>
        <p:nvSpPr>
          <p:cNvPr id="17" name="Text 15"/>
          <p:cNvSpPr/>
          <p:nvPr/>
        </p:nvSpPr>
        <p:spPr>
          <a:xfrm>
            <a:off x="411480" y="2907792"/>
            <a:ext cx="2286000" cy="448056"/>
          </a:xfrm>
          <a:prstGeom prst="rect">
            <a:avLst/>
          </a:prstGeom>
          <a:noFill/>
          <a:ln/>
        </p:spPr>
        <p:txBody>
          <a:bodyPr wrap="square" lIns="0" tIns="0" rIns="0" bIns="0" rtlCol="0" anchor="ctr"/>
          <a:lstStyle/>
          <a:p>
            <a:pPr marL="0" indent="0">
              <a:buNone/>
            </a:pPr>
            <a:r>
              <a:rPr lang="en-US" sz="1300" b="1" dirty="0">
                <a:solidFill>
                  <a:srgbClr val="19D3C5"/>
                </a:solidFill>
              </a:rPr>
              <a:t>🎨 Canvas 2D API</a:t>
            </a:r>
            <a:endParaRPr lang="en-US" sz="1300" dirty="0"/>
          </a:p>
        </p:txBody>
      </p:sp>
      <p:sp>
        <p:nvSpPr>
          <p:cNvPr id="18" name="Text 16"/>
          <p:cNvSpPr/>
          <p:nvPr/>
        </p:nvSpPr>
        <p:spPr>
          <a:xfrm>
            <a:off x="2697480" y="2907792"/>
            <a:ext cx="6035040" cy="448056"/>
          </a:xfrm>
          <a:prstGeom prst="rect">
            <a:avLst/>
          </a:prstGeom>
          <a:noFill/>
          <a:ln/>
        </p:spPr>
        <p:txBody>
          <a:bodyPr wrap="square" lIns="0" tIns="0" rIns="0" bIns="0" rtlCol="0" anchor="ctr"/>
          <a:lstStyle/>
          <a:p>
            <a:pPr marL="0" indent="0">
              <a:buNone/>
            </a:pPr>
            <a:r>
              <a:rPr lang="en-US" sz="1200" dirty="0">
                <a:solidFill>
                  <a:srgbClr val="E8F0FE"/>
                </a:solidFill>
              </a:rPr>
              <a:t>CV pipeline: Rec.601 luma, Sobel, Otsu — zero dependencies</a:t>
            </a:r>
            <a:endParaRPr lang="en-US" sz="1200" dirty="0"/>
          </a:p>
        </p:txBody>
      </p:sp>
      <p:sp>
        <p:nvSpPr>
          <p:cNvPr id="19" name="Shape 17"/>
          <p:cNvSpPr/>
          <p:nvPr/>
        </p:nvSpPr>
        <p:spPr>
          <a:xfrm>
            <a:off x="320040" y="3429000"/>
            <a:ext cx="8503920" cy="448056"/>
          </a:xfrm>
          <a:prstGeom prst="rect">
            <a:avLst/>
          </a:prstGeom>
          <a:solidFill>
            <a:srgbClr val="0A1535"/>
          </a:solidFill>
          <a:ln w="12700">
            <a:solidFill>
              <a:srgbClr val="1A3A8C"/>
            </a:solidFill>
            <a:prstDash val="solid"/>
          </a:ln>
        </p:spPr>
      </p:sp>
      <p:sp>
        <p:nvSpPr>
          <p:cNvPr id="20" name="Text 18"/>
          <p:cNvSpPr/>
          <p:nvPr/>
        </p:nvSpPr>
        <p:spPr>
          <a:xfrm>
            <a:off x="411480" y="3429000"/>
            <a:ext cx="2286000" cy="448056"/>
          </a:xfrm>
          <a:prstGeom prst="rect">
            <a:avLst/>
          </a:prstGeom>
          <a:noFill/>
          <a:ln/>
        </p:spPr>
        <p:txBody>
          <a:bodyPr wrap="square" lIns="0" tIns="0" rIns="0" bIns="0" rtlCol="0" anchor="ctr"/>
          <a:lstStyle/>
          <a:p>
            <a:pPr marL="0" indent="0">
              <a:buNone/>
            </a:pPr>
            <a:r>
              <a:rPr lang="en-US" sz="1300" b="1" dirty="0">
                <a:solidFill>
                  <a:srgbClr val="19D3C5"/>
                </a:solidFill>
              </a:rPr>
              <a:t>💾 localStorage</a:t>
            </a:r>
            <a:endParaRPr lang="en-US" sz="1300" dirty="0"/>
          </a:p>
        </p:txBody>
      </p:sp>
      <p:sp>
        <p:nvSpPr>
          <p:cNvPr id="21" name="Text 19"/>
          <p:cNvSpPr/>
          <p:nvPr/>
        </p:nvSpPr>
        <p:spPr>
          <a:xfrm>
            <a:off x="2697480" y="3429000"/>
            <a:ext cx="6035040" cy="448056"/>
          </a:xfrm>
          <a:prstGeom prst="rect">
            <a:avLst/>
          </a:prstGeom>
          <a:noFill/>
          <a:ln/>
        </p:spPr>
        <p:txBody>
          <a:bodyPr wrap="square" lIns="0" tIns="0" rIns="0" bIns="0" rtlCol="0" anchor="ctr"/>
          <a:lstStyle/>
          <a:p>
            <a:pPr marL="0" indent="0">
              <a:buNone/>
            </a:pPr>
            <a:r>
              <a:rPr lang="en-US" sz="1200" dirty="0">
                <a:solidFill>
                  <a:srgbClr val="E8F0FE"/>
                </a:solidFill>
              </a:rPr>
              <a:t>Persist notes, bookmarks, attempts, settings — fully client-side</a:t>
            </a:r>
            <a:endParaRPr lang="en-US" sz="1200" dirty="0"/>
          </a:p>
        </p:txBody>
      </p:sp>
      <p:sp>
        <p:nvSpPr>
          <p:cNvPr id="22" name="Shape 20"/>
          <p:cNvSpPr/>
          <p:nvPr/>
        </p:nvSpPr>
        <p:spPr>
          <a:xfrm>
            <a:off x="320040" y="3950208"/>
            <a:ext cx="8503920" cy="448056"/>
          </a:xfrm>
          <a:prstGeom prst="rect">
            <a:avLst/>
          </a:prstGeom>
          <a:solidFill>
            <a:srgbClr val="16305C"/>
          </a:solidFill>
          <a:ln w="12700">
            <a:solidFill>
              <a:srgbClr val="1A3A8C"/>
            </a:solidFill>
            <a:prstDash val="solid"/>
          </a:ln>
        </p:spPr>
      </p:sp>
      <p:sp>
        <p:nvSpPr>
          <p:cNvPr id="23" name="Text 21"/>
          <p:cNvSpPr/>
          <p:nvPr/>
        </p:nvSpPr>
        <p:spPr>
          <a:xfrm>
            <a:off x="411480" y="3950208"/>
            <a:ext cx="2286000" cy="448056"/>
          </a:xfrm>
          <a:prstGeom prst="rect">
            <a:avLst/>
          </a:prstGeom>
          <a:noFill/>
          <a:ln/>
        </p:spPr>
        <p:txBody>
          <a:bodyPr wrap="square" lIns="0" tIns="0" rIns="0" bIns="0" rtlCol="0" anchor="ctr"/>
          <a:lstStyle/>
          <a:p>
            <a:pPr marL="0" indent="0">
              <a:buNone/>
            </a:pPr>
            <a:r>
              <a:rPr lang="en-US" sz="1300" b="1" dirty="0">
                <a:solidFill>
                  <a:srgbClr val="19D3C5"/>
                </a:solidFill>
              </a:rPr>
              <a:t>📱 Service Worker</a:t>
            </a:r>
            <a:endParaRPr lang="en-US" sz="1300" dirty="0"/>
          </a:p>
        </p:txBody>
      </p:sp>
      <p:sp>
        <p:nvSpPr>
          <p:cNvPr id="24" name="Text 22"/>
          <p:cNvSpPr/>
          <p:nvPr/>
        </p:nvSpPr>
        <p:spPr>
          <a:xfrm>
            <a:off x="2697480" y="3950208"/>
            <a:ext cx="6035040" cy="448056"/>
          </a:xfrm>
          <a:prstGeom prst="rect">
            <a:avLst/>
          </a:prstGeom>
          <a:noFill/>
          <a:ln/>
        </p:spPr>
        <p:txBody>
          <a:bodyPr wrap="square" lIns="0" tIns="0" rIns="0" bIns="0" rtlCol="0" anchor="ctr"/>
          <a:lstStyle/>
          <a:p>
            <a:pPr marL="0" indent="0">
              <a:buNone/>
            </a:pPr>
            <a:r>
              <a:rPr lang="en-US" sz="1200" dirty="0">
                <a:solidFill>
                  <a:srgbClr val="E8F0FE"/>
                </a:solidFill>
              </a:rPr>
              <a:t>Cache-first PWA — offline operation after first visit</a:t>
            </a:r>
            <a:endParaRPr lang="en-US" sz="1200" dirty="0"/>
          </a:p>
        </p:txBody>
      </p:sp>
      <p:sp>
        <p:nvSpPr>
          <p:cNvPr id="25" name="Shape 23"/>
          <p:cNvSpPr/>
          <p:nvPr/>
        </p:nvSpPr>
        <p:spPr>
          <a:xfrm>
            <a:off x="320040" y="4471416"/>
            <a:ext cx="8503920" cy="448056"/>
          </a:xfrm>
          <a:prstGeom prst="rect">
            <a:avLst/>
          </a:prstGeom>
          <a:solidFill>
            <a:srgbClr val="0A1535"/>
          </a:solidFill>
          <a:ln w="12700">
            <a:solidFill>
              <a:srgbClr val="1A3A8C"/>
            </a:solidFill>
            <a:prstDash val="solid"/>
          </a:ln>
        </p:spPr>
      </p:sp>
      <p:sp>
        <p:nvSpPr>
          <p:cNvPr id="26" name="Text 24"/>
          <p:cNvSpPr/>
          <p:nvPr/>
        </p:nvSpPr>
        <p:spPr>
          <a:xfrm>
            <a:off x="411480" y="4471416"/>
            <a:ext cx="2286000" cy="448056"/>
          </a:xfrm>
          <a:prstGeom prst="rect">
            <a:avLst/>
          </a:prstGeom>
          <a:noFill/>
          <a:ln/>
        </p:spPr>
        <p:txBody>
          <a:bodyPr wrap="square" lIns="0" tIns="0" rIns="0" bIns="0" rtlCol="0" anchor="ctr"/>
          <a:lstStyle/>
          <a:p>
            <a:pPr marL="0" indent="0">
              <a:buNone/>
            </a:pPr>
            <a:r>
              <a:rPr lang="en-US" sz="1300" b="1" dirty="0">
                <a:solidFill>
                  <a:srgbClr val="19D3C5"/>
                </a:solidFill>
              </a:rPr>
              <a:t>🌐 GitHub Pages</a:t>
            </a:r>
            <a:endParaRPr lang="en-US" sz="1300" dirty="0"/>
          </a:p>
        </p:txBody>
      </p:sp>
      <p:sp>
        <p:nvSpPr>
          <p:cNvPr id="27" name="Text 25"/>
          <p:cNvSpPr/>
          <p:nvPr/>
        </p:nvSpPr>
        <p:spPr>
          <a:xfrm>
            <a:off x="2697480" y="4471416"/>
            <a:ext cx="6035040" cy="448056"/>
          </a:xfrm>
          <a:prstGeom prst="rect">
            <a:avLst/>
          </a:prstGeom>
          <a:noFill/>
          <a:ln/>
        </p:spPr>
        <p:txBody>
          <a:bodyPr wrap="square" lIns="0" tIns="0" rIns="0" bIns="0" rtlCol="0" anchor="ctr"/>
          <a:lstStyle/>
          <a:p>
            <a:pPr marL="0" indent="0">
              <a:buNone/>
            </a:pPr>
            <a:r>
              <a:rPr lang="en-US" sz="1200" dirty="0">
                <a:solidFill>
                  <a:srgbClr val="E8F0FE"/>
                </a:solidFill>
              </a:rPr>
              <a:t>Static hosting, HTTPS CDN — free, zero-backend deployment</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0F6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6305C"/>
          </a:solidFill>
          <a:ln w="12700">
            <a:solidFill>
              <a:srgbClr val="16305C"/>
            </a:solidFill>
            <a:prstDash val="solid"/>
          </a:ln>
        </p:spPr>
      </p:sp>
      <p:sp>
        <p:nvSpPr>
          <p:cNvPr id="3" name="Text 1"/>
          <p:cNvSpPr/>
          <p:nvPr/>
        </p:nvSpPr>
        <p:spPr>
          <a:xfrm>
            <a:off x="365760" y="0"/>
            <a:ext cx="8412480" cy="685800"/>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Computer Vision Pipeline</a:t>
            </a:r>
            <a:endParaRPr lang="en-US" sz="2800" dirty="0"/>
          </a:p>
        </p:txBody>
      </p:sp>
      <p:sp>
        <p:nvSpPr>
          <p:cNvPr id="4" name="Shape 2"/>
          <p:cNvSpPr/>
          <p:nvPr/>
        </p:nvSpPr>
        <p:spPr>
          <a:xfrm>
            <a:off x="274320" y="822960"/>
            <a:ext cx="1554480" cy="2286000"/>
          </a:xfrm>
          <a:prstGeom prst="rect">
            <a:avLst/>
          </a:prstGeom>
          <a:solidFill>
            <a:srgbClr val="FFFFFF"/>
          </a:solidFill>
          <a:ln w="12700">
            <a:solidFill>
              <a:srgbClr val="B0CCFF"/>
            </a:solidFill>
            <a:prstDash val="solid"/>
          </a:ln>
          <a:effectLst>
            <a:outerShdw blurRad="101600" dist="25400" dir="8100000" algn="bl" rotWithShape="0">
              <a:srgbClr val="000000">
                <a:alpha val="18000"/>
              </a:srgbClr>
            </a:outerShdw>
          </a:effectLst>
        </p:spPr>
      </p:sp>
      <p:sp>
        <p:nvSpPr>
          <p:cNvPr id="5" name="Shape 3"/>
          <p:cNvSpPr/>
          <p:nvPr/>
        </p:nvSpPr>
        <p:spPr>
          <a:xfrm>
            <a:off x="822960" y="914400"/>
            <a:ext cx="457200" cy="457200"/>
          </a:xfrm>
          <a:prstGeom prst="ellipse">
            <a:avLst/>
          </a:prstGeom>
          <a:solidFill>
            <a:srgbClr val="16305C"/>
          </a:solidFill>
          <a:ln w="12700">
            <a:solidFill>
              <a:srgbClr val="16305C"/>
            </a:solidFill>
            <a:prstDash val="solid"/>
          </a:ln>
        </p:spPr>
      </p:sp>
      <p:sp>
        <p:nvSpPr>
          <p:cNvPr id="6" name="Text 4"/>
          <p:cNvSpPr/>
          <p:nvPr/>
        </p:nvSpPr>
        <p:spPr>
          <a:xfrm>
            <a:off x="822960" y="914400"/>
            <a:ext cx="457200" cy="457200"/>
          </a:xfrm>
          <a:prstGeom prst="rect">
            <a:avLst/>
          </a:prstGeom>
          <a:noFill/>
          <a:ln/>
        </p:spPr>
        <p:txBody>
          <a:bodyPr wrap="square" lIns="0" tIns="0" rIns="0" bIns="0" rtlCol="0" anchor="ctr"/>
          <a:lstStyle/>
          <a:p>
            <a:pPr marL="0" indent="0" algn="ctr">
              <a:buNone/>
            </a:pPr>
            <a:r>
              <a:rPr lang="en-US" sz="1800" dirty="0">
                <a:solidFill>
                  <a:srgbClr val="000000"/>
                </a:solidFill>
              </a:rPr>
              <a:t>📥</a:t>
            </a:r>
            <a:endParaRPr lang="en-US" sz="1800" dirty="0"/>
          </a:p>
        </p:txBody>
      </p:sp>
      <p:sp>
        <p:nvSpPr>
          <p:cNvPr id="7" name="Text 5"/>
          <p:cNvSpPr/>
          <p:nvPr/>
        </p:nvSpPr>
        <p:spPr>
          <a:xfrm>
            <a:off x="320040" y="1444752"/>
            <a:ext cx="1463040" cy="347472"/>
          </a:xfrm>
          <a:prstGeom prst="rect">
            <a:avLst/>
          </a:prstGeom>
          <a:noFill/>
          <a:ln/>
        </p:spPr>
        <p:txBody>
          <a:bodyPr wrap="square" lIns="0" tIns="0" rIns="0" bIns="0" rtlCol="0" anchor="ctr"/>
          <a:lstStyle/>
          <a:p>
            <a:pPr marL="0" indent="0" algn="ctr">
              <a:buNone/>
            </a:pPr>
            <a:r>
              <a:rPr lang="en-US" sz="1300" b="1" dirty="0">
                <a:solidFill>
                  <a:srgbClr val="16305C"/>
                </a:solidFill>
              </a:rPr>
              <a:t>Input</a:t>
            </a:r>
            <a:endParaRPr lang="en-US" sz="1300" dirty="0"/>
          </a:p>
        </p:txBody>
      </p:sp>
      <p:sp>
        <p:nvSpPr>
          <p:cNvPr id="8" name="Text 6"/>
          <p:cNvSpPr/>
          <p:nvPr/>
        </p:nvSpPr>
        <p:spPr>
          <a:xfrm>
            <a:off x="320040" y="1810512"/>
            <a:ext cx="1463040" cy="1188720"/>
          </a:xfrm>
          <a:prstGeom prst="rect">
            <a:avLst/>
          </a:prstGeom>
          <a:noFill/>
          <a:ln/>
        </p:spPr>
        <p:txBody>
          <a:bodyPr wrap="square" lIns="0" tIns="0" rIns="0" bIns="0" rtlCol="0" anchor="t"/>
          <a:lstStyle/>
          <a:p>
            <a:pPr marL="0" indent="0" algn="ctr">
              <a:buNone/>
            </a:pPr>
            <a:r>
              <a:rPr lang="en-US" sz="1100" dirty="0">
                <a:solidFill>
                  <a:srgbClr val="334466"/>
                </a:solidFill>
              </a:rPr>
              <a:t>OPG / intra-oral</a:t>
            </a:r>
            <a:endParaRPr lang="en-US" sz="1100" dirty="0"/>
          </a:p>
          <a:p>
            <a:pPr marL="0" indent="0" algn="ctr">
              <a:buNone/>
            </a:pPr>
            <a:r>
              <a:rPr lang="en-US" sz="1100" dirty="0">
                <a:solidFill>
                  <a:srgbClr val="334466"/>
                </a:solidFill>
              </a:rPr>
              <a:t>radiograph or photo</a:t>
            </a:r>
            <a:endParaRPr lang="en-US" sz="1100" dirty="0"/>
          </a:p>
        </p:txBody>
      </p:sp>
      <p:sp>
        <p:nvSpPr>
          <p:cNvPr id="9" name="Shape 7"/>
          <p:cNvSpPr/>
          <p:nvPr/>
        </p:nvSpPr>
        <p:spPr>
          <a:xfrm>
            <a:off x="1847088" y="1965960"/>
            <a:ext cx="146304" cy="0"/>
          </a:xfrm>
          <a:prstGeom prst="line">
            <a:avLst/>
          </a:prstGeom>
          <a:noFill/>
          <a:ln w="25400">
            <a:solidFill>
              <a:srgbClr val="0E8F87"/>
            </a:solidFill>
            <a:prstDash val="solid"/>
          </a:ln>
        </p:spPr>
      </p:sp>
      <p:sp>
        <p:nvSpPr>
          <p:cNvPr id="10" name="Text 8"/>
          <p:cNvSpPr/>
          <p:nvPr/>
        </p:nvSpPr>
        <p:spPr>
          <a:xfrm>
            <a:off x="1810512" y="1847088"/>
            <a:ext cx="182880" cy="228600"/>
          </a:xfrm>
          <a:prstGeom prst="rect">
            <a:avLst/>
          </a:prstGeom>
          <a:noFill/>
          <a:ln/>
        </p:spPr>
        <p:txBody>
          <a:bodyPr wrap="square" lIns="0" tIns="0" rIns="0" bIns="0" rtlCol="0" anchor="ctr"/>
          <a:lstStyle/>
          <a:p>
            <a:pPr marL="0" indent="0" algn="ctr">
              <a:buNone/>
            </a:pPr>
            <a:r>
              <a:rPr lang="en-US" sz="1400" dirty="0">
                <a:solidFill>
                  <a:srgbClr val="0E8F87"/>
                </a:solidFill>
              </a:rPr>
              <a:t>→</a:t>
            </a:r>
            <a:endParaRPr lang="en-US" sz="1400" dirty="0"/>
          </a:p>
        </p:txBody>
      </p:sp>
      <p:sp>
        <p:nvSpPr>
          <p:cNvPr id="11" name="Shape 9"/>
          <p:cNvSpPr/>
          <p:nvPr/>
        </p:nvSpPr>
        <p:spPr>
          <a:xfrm>
            <a:off x="1993392" y="822960"/>
            <a:ext cx="1554480" cy="2286000"/>
          </a:xfrm>
          <a:prstGeom prst="rect">
            <a:avLst/>
          </a:prstGeom>
          <a:solidFill>
            <a:srgbClr val="FFFFFF"/>
          </a:solidFill>
          <a:ln w="12700">
            <a:solidFill>
              <a:srgbClr val="B0CCFF"/>
            </a:solidFill>
            <a:prstDash val="solid"/>
          </a:ln>
          <a:effectLst>
            <a:outerShdw blurRad="101600" dist="25400" dir="8100000" algn="bl" rotWithShape="0">
              <a:srgbClr val="000000">
                <a:alpha val="18000"/>
              </a:srgbClr>
            </a:outerShdw>
          </a:effectLst>
        </p:spPr>
      </p:sp>
      <p:sp>
        <p:nvSpPr>
          <p:cNvPr id="12" name="Shape 10"/>
          <p:cNvSpPr/>
          <p:nvPr/>
        </p:nvSpPr>
        <p:spPr>
          <a:xfrm>
            <a:off x="2542032" y="914400"/>
            <a:ext cx="457200" cy="457200"/>
          </a:xfrm>
          <a:prstGeom prst="ellipse">
            <a:avLst/>
          </a:prstGeom>
          <a:solidFill>
            <a:srgbClr val="16305C"/>
          </a:solidFill>
          <a:ln w="12700">
            <a:solidFill>
              <a:srgbClr val="16305C"/>
            </a:solidFill>
            <a:prstDash val="solid"/>
          </a:ln>
        </p:spPr>
      </p:sp>
      <p:sp>
        <p:nvSpPr>
          <p:cNvPr id="13" name="Text 11"/>
          <p:cNvSpPr/>
          <p:nvPr/>
        </p:nvSpPr>
        <p:spPr>
          <a:xfrm>
            <a:off x="2542032" y="914400"/>
            <a:ext cx="457200" cy="457200"/>
          </a:xfrm>
          <a:prstGeom prst="rect">
            <a:avLst/>
          </a:prstGeom>
          <a:noFill/>
          <a:ln/>
        </p:spPr>
        <p:txBody>
          <a:bodyPr wrap="square" lIns="0" tIns="0" rIns="0" bIns="0" rtlCol="0" anchor="ctr"/>
          <a:lstStyle/>
          <a:p>
            <a:pPr marL="0" indent="0" algn="ctr">
              <a:buNone/>
            </a:pPr>
            <a:r>
              <a:rPr lang="en-US" sz="1800" dirty="0">
                <a:solidFill>
                  <a:srgbClr val="000000"/>
                </a:solidFill>
              </a:rPr>
              <a:t>🔲</a:t>
            </a:r>
            <a:endParaRPr lang="en-US" sz="1800" dirty="0"/>
          </a:p>
        </p:txBody>
      </p:sp>
      <p:sp>
        <p:nvSpPr>
          <p:cNvPr id="14" name="Text 12"/>
          <p:cNvSpPr/>
          <p:nvPr/>
        </p:nvSpPr>
        <p:spPr>
          <a:xfrm>
            <a:off x="2039112" y="1444752"/>
            <a:ext cx="1463040" cy="347472"/>
          </a:xfrm>
          <a:prstGeom prst="rect">
            <a:avLst/>
          </a:prstGeom>
          <a:noFill/>
          <a:ln/>
        </p:spPr>
        <p:txBody>
          <a:bodyPr wrap="square" lIns="0" tIns="0" rIns="0" bIns="0" rtlCol="0" anchor="ctr"/>
          <a:lstStyle/>
          <a:p>
            <a:pPr marL="0" indent="0" algn="ctr">
              <a:buNone/>
            </a:pPr>
            <a:r>
              <a:rPr lang="en-US" sz="1300" b="1" dirty="0">
                <a:solidFill>
                  <a:srgbClr val="16305C"/>
                </a:solidFill>
              </a:rPr>
              <a:t>Grayscale</a:t>
            </a:r>
            <a:endParaRPr lang="en-US" sz="1300" dirty="0"/>
          </a:p>
        </p:txBody>
      </p:sp>
      <p:sp>
        <p:nvSpPr>
          <p:cNvPr id="15" name="Text 13"/>
          <p:cNvSpPr/>
          <p:nvPr/>
        </p:nvSpPr>
        <p:spPr>
          <a:xfrm>
            <a:off x="2039112" y="1810512"/>
            <a:ext cx="1463040" cy="1188720"/>
          </a:xfrm>
          <a:prstGeom prst="rect">
            <a:avLst/>
          </a:prstGeom>
          <a:noFill/>
          <a:ln/>
        </p:spPr>
        <p:txBody>
          <a:bodyPr wrap="square" lIns="0" tIns="0" rIns="0" bIns="0" rtlCol="0" anchor="t"/>
          <a:lstStyle/>
          <a:p>
            <a:pPr marL="0" indent="0" algn="ctr">
              <a:buNone/>
            </a:pPr>
            <a:r>
              <a:rPr lang="en-US" sz="1100" dirty="0">
                <a:solidFill>
                  <a:srgbClr val="334466"/>
                </a:solidFill>
              </a:rPr>
              <a:t>Rec.601 luma</a:t>
            </a:r>
            <a:endParaRPr lang="en-US" sz="1100" dirty="0"/>
          </a:p>
          <a:p>
            <a:pPr marL="0" indent="0" algn="ctr">
              <a:buNone/>
            </a:pPr>
            <a:r>
              <a:rPr lang="en-US" sz="1100" dirty="0">
                <a:solidFill>
                  <a:srgbClr val="334466"/>
                </a:solidFill>
              </a:rPr>
              <a:t>0.299R+0.587G+0.114B</a:t>
            </a:r>
            <a:endParaRPr lang="en-US" sz="1100" dirty="0"/>
          </a:p>
        </p:txBody>
      </p:sp>
      <p:sp>
        <p:nvSpPr>
          <p:cNvPr id="16" name="Shape 14"/>
          <p:cNvSpPr/>
          <p:nvPr/>
        </p:nvSpPr>
        <p:spPr>
          <a:xfrm>
            <a:off x="3566160" y="1965960"/>
            <a:ext cx="146304" cy="0"/>
          </a:xfrm>
          <a:prstGeom prst="line">
            <a:avLst/>
          </a:prstGeom>
          <a:noFill/>
          <a:ln w="25400">
            <a:solidFill>
              <a:srgbClr val="0E8F87"/>
            </a:solidFill>
            <a:prstDash val="solid"/>
          </a:ln>
        </p:spPr>
      </p:sp>
      <p:sp>
        <p:nvSpPr>
          <p:cNvPr id="17" name="Text 15"/>
          <p:cNvSpPr/>
          <p:nvPr/>
        </p:nvSpPr>
        <p:spPr>
          <a:xfrm>
            <a:off x="3529584" y="1847088"/>
            <a:ext cx="182880" cy="228600"/>
          </a:xfrm>
          <a:prstGeom prst="rect">
            <a:avLst/>
          </a:prstGeom>
          <a:noFill/>
          <a:ln/>
        </p:spPr>
        <p:txBody>
          <a:bodyPr wrap="square" lIns="0" tIns="0" rIns="0" bIns="0" rtlCol="0" anchor="ctr"/>
          <a:lstStyle/>
          <a:p>
            <a:pPr marL="0" indent="0" algn="ctr">
              <a:buNone/>
            </a:pPr>
            <a:r>
              <a:rPr lang="en-US" sz="1400" dirty="0">
                <a:solidFill>
                  <a:srgbClr val="0E8F87"/>
                </a:solidFill>
              </a:rPr>
              <a:t>→</a:t>
            </a:r>
            <a:endParaRPr lang="en-US" sz="1400" dirty="0"/>
          </a:p>
        </p:txBody>
      </p:sp>
      <p:sp>
        <p:nvSpPr>
          <p:cNvPr id="18" name="Shape 16"/>
          <p:cNvSpPr/>
          <p:nvPr/>
        </p:nvSpPr>
        <p:spPr>
          <a:xfrm>
            <a:off x="3712464" y="822960"/>
            <a:ext cx="1554480" cy="2286000"/>
          </a:xfrm>
          <a:prstGeom prst="rect">
            <a:avLst/>
          </a:prstGeom>
          <a:solidFill>
            <a:srgbClr val="FFFFFF"/>
          </a:solidFill>
          <a:ln w="12700">
            <a:solidFill>
              <a:srgbClr val="B0CCFF"/>
            </a:solidFill>
            <a:prstDash val="solid"/>
          </a:ln>
          <a:effectLst>
            <a:outerShdw blurRad="101600" dist="25400" dir="8100000" algn="bl" rotWithShape="0">
              <a:srgbClr val="000000">
                <a:alpha val="18000"/>
              </a:srgbClr>
            </a:outerShdw>
          </a:effectLst>
        </p:spPr>
      </p:sp>
      <p:sp>
        <p:nvSpPr>
          <p:cNvPr id="19" name="Shape 17"/>
          <p:cNvSpPr/>
          <p:nvPr/>
        </p:nvSpPr>
        <p:spPr>
          <a:xfrm>
            <a:off x="4261104" y="914400"/>
            <a:ext cx="457200" cy="457200"/>
          </a:xfrm>
          <a:prstGeom prst="ellipse">
            <a:avLst/>
          </a:prstGeom>
          <a:solidFill>
            <a:srgbClr val="16305C"/>
          </a:solidFill>
          <a:ln w="12700">
            <a:solidFill>
              <a:srgbClr val="16305C"/>
            </a:solidFill>
            <a:prstDash val="solid"/>
          </a:ln>
        </p:spPr>
      </p:sp>
      <p:sp>
        <p:nvSpPr>
          <p:cNvPr id="20" name="Text 18"/>
          <p:cNvSpPr/>
          <p:nvPr/>
        </p:nvSpPr>
        <p:spPr>
          <a:xfrm>
            <a:off x="4261104" y="914400"/>
            <a:ext cx="457200" cy="457200"/>
          </a:xfrm>
          <a:prstGeom prst="rect">
            <a:avLst/>
          </a:prstGeom>
          <a:noFill/>
          <a:ln/>
        </p:spPr>
        <p:txBody>
          <a:bodyPr wrap="square" lIns="0" tIns="0" rIns="0" bIns="0" rtlCol="0" anchor="ctr"/>
          <a:lstStyle/>
          <a:p>
            <a:pPr marL="0" indent="0" algn="ctr">
              <a:buNone/>
            </a:pPr>
            <a:r>
              <a:rPr lang="en-US" sz="1800" dirty="0">
                <a:solidFill>
                  <a:srgbClr val="000000"/>
                </a:solidFill>
              </a:rPr>
              <a:t>📊</a:t>
            </a:r>
            <a:endParaRPr lang="en-US" sz="1800" dirty="0"/>
          </a:p>
        </p:txBody>
      </p:sp>
      <p:sp>
        <p:nvSpPr>
          <p:cNvPr id="21" name="Text 19"/>
          <p:cNvSpPr/>
          <p:nvPr/>
        </p:nvSpPr>
        <p:spPr>
          <a:xfrm>
            <a:off x="3758184" y="1444752"/>
            <a:ext cx="1463040" cy="347472"/>
          </a:xfrm>
          <a:prstGeom prst="rect">
            <a:avLst/>
          </a:prstGeom>
          <a:noFill/>
          <a:ln/>
        </p:spPr>
        <p:txBody>
          <a:bodyPr wrap="square" lIns="0" tIns="0" rIns="0" bIns="0" rtlCol="0" anchor="ctr"/>
          <a:lstStyle/>
          <a:p>
            <a:pPr marL="0" indent="0" algn="ctr">
              <a:buNone/>
            </a:pPr>
            <a:r>
              <a:rPr lang="en-US" sz="1300" b="1" dirty="0">
                <a:solidFill>
                  <a:srgbClr val="16305C"/>
                </a:solidFill>
              </a:rPr>
              <a:t>Histogram</a:t>
            </a:r>
            <a:endParaRPr lang="en-US" sz="1300" dirty="0"/>
          </a:p>
        </p:txBody>
      </p:sp>
      <p:sp>
        <p:nvSpPr>
          <p:cNvPr id="22" name="Text 20"/>
          <p:cNvSpPr/>
          <p:nvPr/>
        </p:nvSpPr>
        <p:spPr>
          <a:xfrm>
            <a:off x="3758184" y="1810512"/>
            <a:ext cx="1463040" cy="1188720"/>
          </a:xfrm>
          <a:prstGeom prst="rect">
            <a:avLst/>
          </a:prstGeom>
          <a:noFill/>
          <a:ln/>
        </p:spPr>
        <p:txBody>
          <a:bodyPr wrap="square" lIns="0" tIns="0" rIns="0" bIns="0" rtlCol="0" anchor="t"/>
          <a:lstStyle/>
          <a:p>
            <a:pPr marL="0" indent="0" algn="ctr">
              <a:buNone/>
            </a:pPr>
            <a:r>
              <a:rPr lang="en-US" sz="1100" dirty="0">
                <a:solidFill>
                  <a:srgbClr val="334466"/>
                </a:solidFill>
              </a:rPr>
              <a:t>256-bin intensity</a:t>
            </a:r>
            <a:endParaRPr lang="en-US" sz="1100" dirty="0"/>
          </a:p>
          <a:p>
            <a:pPr marL="0" indent="0" algn="ctr">
              <a:buNone/>
            </a:pPr>
            <a:r>
              <a:rPr lang="en-US" sz="1100" dirty="0">
                <a:solidFill>
                  <a:srgbClr val="334466"/>
                </a:solidFill>
              </a:rPr>
              <a:t>distribution SVG</a:t>
            </a:r>
            <a:endParaRPr lang="en-US" sz="1100" dirty="0"/>
          </a:p>
        </p:txBody>
      </p:sp>
      <p:sp>
        <p:nvSpPr>
          <p:cNvPr id="23" name="Shape 21"/>
          <p:cNvSpPr/>
          <p:nvPr/>
        </p:nvSpPr>
        <p:spPr>
          <a:xfrm>
            <a:off x="5285232" y="1965960"/>
            <a:ext cx="146304" cy="0"/>
          </a:xfrm>
          <a:prstGeom prst="line">
            <a:avLst/>
          </a:prstGeom>
          <a:noFill/>
          <a:ln w="25400">
            <a:solidFill>
              <a:srgbClr val="0E8F87"/>
            </a:solidFill>
            <a:prstDash val="solid"/>
          </a:ln>
        </p:spPr>
      </p:sp>
      <p:sp>
        <p:nvSpPr>
          <p:cNvPr id="24" name="Text 22"/>
          <p:cNvSpPr/>
          <p:nvPr/>
        </p:nvSpPr>
        <p:spPr>
          <a:xfrm>
            <a:off x="5248656" y="1847088"/>
            <a:ext cx="182880" cy="228600"/>
          </a:xfrm>
          <a:prstGeom prst="rect">
            <a:avLst/>
          </a:prstGeom>
          <a:noFill/>
          <a:ln/>
        </p:spPr>
        <p:txBody>
          <a:bodyPr wrap="square" lIns="0" tIns="0" rIns="0" bIns="0" rtlCol="0" anchor="ctr"/>
          <a:lstStyle/>
          <a:p>
            <a:pPr marL="0" indent="0" algn="ctr">
              <a:buNone/>
            </a:pPr>
            <a:r>
              <a:rPr lang="en-US" sz="1400" dirty="0">
                <a:solidFill>
                  <a:srgbClr val="0E8F87"/>
                </a:solidFill>
              </a:rPr>
              <a:t>→</a:t>
            </a:r>
            <a:endParaRPr lang="en-US" sz="1400" dirty="0"/>
          </a:p>
        </p:txBody>
      </p:sp>
      <p:sp>
        <p:nvSpPr>
          <p:cNvPr id="25" name="Shape 23"/>
          <p:cNvSpPr/>
          <p:nvPr/>
        </p:nvSpPr>
        <p:spPr>
          <a:xfrm>
            <a:off x="5431536" y="822960"/>
            <a:ext cx="1554480" cy="2286000"/>
          </a:xfrm>
          <a:prstGeom prst="rect">
            <a:avLst/>
          </a:prstGeom>
          <a:solidFill>
            <a:srgbClr val="FFFFFF"/>
          </a:solidFill>
          <a:ln w="12700">
            <a:solidFill>
              <a:srgbClr val="B0CCFF"/>
            </a:solidFill>
            <a:prstDash val="solid"/>
          </a:ln>
          <a:effectLst>
            <a:outerShdw blurRad="101600" dist="25400" dir="8100000" algn="bl" rotWithShape="0">
              <a:srgbClr val="000000">
                <a:alpha val="18000"/>
              </a:srgbClr>
            </a:outerShdw>
          </a:effectLst>
        </p:spPr>
      </p:sp>
      <p:sp>
        <p:nvSpPr>
          <p:cNvPr id="26" name="Shape 24"/>
          <p:cNvSpPr/>
          <p:nvPr/>
        </p:nvSpPr>
        <p:spPr>
          <a:xfrm>
            <a:off x="5980176" y="914400"/>
            <a:ext cx="457200" cy="457200"/>
          </a:xfrm>
          <a:prstGeom prst="ellipse">
            <a:avLst/>
          </a:prstGeom>
          <a:solidFill>
            <a:srgbClr val="16305C"/>
          </a:solidFill>
          <a:ln w="12700">
            <a:solidFill>
              <a:srgbClr val="16305C"/>
            </a:solidFill>
            <a:prstDash val="solid"/>
          </a:ln>
        </p:spPr>
      </p:sp>
      <p:sp>
        <p:nvSpPr>
          <p:cNvPr id="27" name="Text 25"/>
          <p:cNvSpPr/>
          <p:nvPr/>
        </p:nvSpPr>
        <p:spPr>
          <a:xfrm>
            <a:off x="5980176" y="914400"/>
            <a:ext cx="457200" cy="457200"/>
          </a:xfrm>
          <a:prstGeom prst="rect">
            <a:avLst/>
          </a:prstGeom>
          <a:noFill/>
          <a:ln/>
        </p:spPr>
        <p:txBody>
          <a:bodyPr wrap="square" lIns="0" tIns="0" rIns="0" bIns="0" rtlCol="0" anchor="ctr"/>
          <a:lstStyle/>
          <a:p>
            <a:pPr marL="0" indent="0" algn="ctr">
              <a:buNone/>
            </a:pPr>
            <a:r>
              <a:rPr lang="en-US" sz="1800" dirty="0">
                <a:solidFill>
                  <a:srgbClr val="000000"/>
                </a:solidFill>
              </a:rPr>
              <a:t>🔍</a:t>
            </a:r>
            <a:endParaRPr lang="en-US" sz="1800" dirty="0"/>
          </a:p>
        </p:txBody>
      </p:sp>
      <p:sp>
        <p:nvSpPr>
          <p:cNvPr id="28" name="Text 26"/>
          <p:cNvSpPr/>
          <p:nvPr/>
        </p:nvSpPr>
        <p:spPr>
          <a:xfrm>
            <a:off x="5477256" y="1444752"/>
            <a:ext cx="1463040" cy="347472"/>
          </a:xfrm>
          <a:prstGeom prst="rect">
            <a:avLst/>
          </a:prstGeom>
          <a:noFill/>
          <a:ln/>
        </p:spPr>
        <p:txBody>
          <a:bodyPr wrap="square" lIns="0" tIns="0" rIns="0" bIns="0" rtlCol="0" anchor="ctr"/>
          <a:lstStyle/>
          <a:p>
            <a:pPr marL="0" indent="0" algn="ctr">
              <a:buNone/>
            </a:pPr>
            <a:r>
              <a:rPr lang="en-US" sz="1300" b="1" dirty="0">
                <a:solidFill>
                  <a:srgbClr val="16305C"/>
                </a:solidFill>
              </a:rPr>
              <a:t>Sobel</a:t>
            </a:r>
            <a:endParaRPr lang="en-US" sz="1300" dirty="0"/>
          </a:p>
        </p:txBody>
      </p:sp>
      <p:sp>
        <p:nvSpPr>
          <p:cNvPr id="29" name="Text 27"/>
          <p:cNvSpPr/>
          <p:nvPr/>
        </p:nvSpPr>
        <p:spPr>
          <a:xfrm>
            <a:off x="5477256" y="1810512"/>
            <a:ext cx="1463040" cy="1188720"/>
          </a:xfrm>
          <a:prstGeom prst="rect">
            <a:avLst/>
          </a:prstGeom>
          <a:noFill/>
          <a:ln/>
        </p:spPr>
        <p:txBody>
          <a:bodyPr wrap="square" lIns="0" tIns="0" rIns="0" bIns="0" rtlCol="0" anchor="t"/>
          <a:lstStyle/>
          <a:p>
            <a:pPr marL="0" indent="0" algn="ctr">
              <a:buNone/>
            </a:pPr>
            <a:r>
              <a:rPr lang="en-US" sz="1100" dirty="0">
                <a:solidFill>
                  <a:srgbClr val="334466"/>
                </a:solidFill>
              </a:rPr>
              <a:t>3×3 Gx+Gy kernels</a:t>
            </a:r>
            <a:endParaRPr lang="en-US" sz="1100" dirty="0"/>
          </a:p>
          <a:p>
            <a:pPr marL="0" indent="0" algn="ctr">
              <a:buNone/>
            </a:pPr>
            <a:r>
              <a:rPr lang="en-US" sz="1100" dirty="0">
                <a:solidFill>
                  <a:srgbClr val="334466"/>
                </a:solidFill>
              </a:rPr>
              <a:t>edge magnitude</a:t>
            </a:r>
            <a:endParaRPr lang="en-US" sz="1100" dirty="0"/>
          </a:p>
        </p:txBody>
      </p:sp>
      <p:sp>
        <p:nvSpPr>
          <p:cNvPr id="30" name="Shape 28"/>
          <p:cNvSpPr/>
          <p:nvPr/>
        </p:nvSpPr>
        <p:spPr>
          <a:xfrm>
            <a:off x="7004304" y="1965960"/>
            <a:ext cx="146304" cy="0"/>
          </a:xfrm>
          <a:prstGeom prst="line">
            <a:avLst/>
          </a:prstGeom>
          <a:noFill/>
          <a:ln w="25400">
            <a:solidFill>
              <a:srgbClr val="0E8F87"/>
            </a:solidFill>
            <a:prstDash val="solid"/>
          </a:ln>
        </p:spPr>
      </p:sp>
      <p:sp>
        <p:nvSpPr>
          <p:cNvPr id="31" name="Text 29"/>
          <p:cNvSpPr/>
          <p:nvPr/>
        </p:nvSpPr>
        <p:spPr>
          <a:xfrm>
            <a:off x="6967728" y="1847088"/>
            <a:ext cx="182880" cy="228600"/>
          </a:xfrm>
          <a:prstGeom prst="rect">
            <a:avLst/>
          </a:prstGeom>
          <a:noFill/>
          <a:ln/>
        </p:spPr>
        <p:txBody>
          <a:bodyPr wrap="square" lIns="0" tIns="0" rIns="0" bIns="0" rtlCol="0" anchor="ctr"/>
          <a:lstStyle/>
          <a:p>
            <a:pPr marL="0" indent="0" algn="ctr">
              <a:buNone/>
            </a:pPr>
            <a:r>
              <a:rPr lang="en-US" sz="1400" dirty="0">
                <a:solidFill>
                  <a:srgbClr val="0E8F87"/>
                </a:solidFill>
              </a:rPr>
              <a:t>→</a:t>
            </a:r>
            <a:endParaRPr lang="en-US" sz="1400" dirty="0"/>
          </a:p>
        </p:txBody>
      </p:sp>
      <p:sp>
        <p:nvSpPr>
          <p:cNvPr id="32" name="Shape 30"/>
          <p:cNvSpPr/>
          <p:nvPr/>
        </p:nvSpPr>
        <p:spPr>
          <a:xfrm>
            <a:off x="7150608" y="822960"/>
            <a:ext cx="1554480" cy="2286000"/>
          </a:xfrm>
          <a:prstGeom prst="rect">
            <a:avLst/>
          </a:prstGeom>
          <a:solidFill>
            <a:srgbClr val="FFFFFF"/>
          </a:solidFill>
          <a:ln w="12700">
            <a:solidFill>
              <a:srgbClr val="B0CCFF"/>
            </a:solidFill>
            <a:prstDash val="solid"/>
          </a:ln>
          <a:effectLst>
            <a:outerShdw blurRad="101600" dist="25400" dir="8100000" algn="bl" rotWithShape="0">
              <a:srgbClr val="000000">
                <a:alpha val="18000"/>
              </a:srgbClr>
            </a:outerShdw>
          </a:effectLst>
        </p:spPr>
      </p:sp>
      <p:sp>
        <p:nvSpPr>
          <p:cNvPr id="33" name="Shape 31"/>
          <p:cNvSpPr/>
          <p:nvPr/>
        </p:nvSpPr>
        <p:spPr>
          <a:xfrm>
            <a:off x="7699248" y="914400"/>
            <a:ext cx="457200" cy="457200"/>
          </a:xfrm>
          <a:prstGeom prst="ellipse">
            <a:avLst/>
          </a:prstGeom>
          <a:solidFill>
            <a:srgbClr val="16305C"/>
          </a:solidFill>
          <a:ln w="12700">
            <a:solidFill>
              <a:srgbClr val="16305C"/>
            </a:solidFill>
            <a:prstDash val="solid"/>
          </a:ln>
        </p:spPr>
      </p:sp>
      <p:sp>
        <p:nvSpPr>
          <p:cNvPr id="34" name="Text 32"/>
          <p:cNvSpPr/>
          <p:nvPr/>
        </p:nvSpPr>
        <p:spPr>
          <a:xfrm>
            <a:off x="7699248" y="914400"/>
            <a:ext cx="457200" cy="457200"/>
          </a:xfrm>
          <a:prstGeom prst="rect">
            <a:avLst/>
          </a:prstGeom>
          <a:noFill/>
          <a:ln/>
        </p:spPr>
        <p:txBody>
          <a:bodyPr wrap="square" lIns="0" tIns="0" rIns="0" bIns="0" rtlCol="0" anchor="ctr"/>
          <a:lstStyle/>
          <a:p>
            <a:pPr marL="0" indent="0" algn="ctr">
              <a:buNone/>
            </a:pPr>
            <a:r>
              <a:rPr lang="en-US" sz="1800" dirty="0">
                <a:solidFill>
                  <a:srgbClr val="000000"/>
                </a:solidFill>
              </a:rPr>
              <a:t>✂️</a:t>
            </a:r>
            <a:endParaRPr lang="en-US" sz="1800" dirty="0"/>
          </a:p>
        </p:txBody>
      </p:sp>
      <p:sp>
        <p:nvSpPr>
          <p:cNvPr id="35" name="Text 33"/>
          <p:cNvSpPr/>
          <p:nvPr/>
        </p:nvSpPr>
        <p:spPr>
          <a:xfrm>
            <a:off x="7196328" y="1444752"/>
            <a:ext cx="1463040" cy="347472"/>
          </a:xfrm>
          <a:prstGeom prst="rect">
            <a:avLst/>
          </a:prstGeom>
          <a:noFill/>
          <a:ln/>
        </p:spPr>
        <p:txBody>
          <a:bodyPr wrap="square" lIns="0" tIns="0" rIns="0" bIns="0" rtlCol="0" anchor="ctr"/>
          <a:lstStyle/>
          <a:p>
            <a:pPr marL="0" indent="0" algn="ctr">
              <a:buNone/>
            </a:pPr>
            <a:r>
              <a:rPr lang="en-US" sz="1300" b="1" dirty="0">
                <a:solidFill>
                  <a:srgbClr val="16305C"/>
                </a:solidFill>
              </a:rPr>
              <a:t>Otsu</a:t>
            </a:r>
            <a:endParaRPr lang="en-US" sz="1300" dirty="0"/>
          </a:p>
        </p:txBody>
      </p:sp>
      <p:sp>
        <p:nvSpPr>
          <p:cNvPr id="36" name="Text 34"/>
          <p:cNvSpPr/>
          <p:nvPr/>
        </p:nvSpPr>
        <p:spPr>
          <a:xfrm>
            <a:off x="7196328" y="1810512"/>
            <a:ext cx="1463040" cy="1188720"/>
          </a:xfrm>
          <a:prstGeom prst="rect">
            <a:avLst/>
          </a:prstGeom>
          <a:noFill/>
          <a:ln/>
        </p:spPr>
        <p:txBody>
          <a:bodyPr wrap="square" lIns="0" tIns="0" rIns="0" bIns="0" rtlCol="0" anchor="t"/>
          <a:lstStyle/>
          <a:p>
            <a:pPr marL="0" indent="0" algn="ctr">
              <a:buNone/>
            </a:pPr>
            <a:r>
              <a:rPr lang="en-US" sz="1100" dirty="0">
                <a:solidFill>
                  <a:srgbClr val="334466"/>
                </a:solidFill>
              </a:rPr>
              <a:t>Auto global threshold</a:t>
            </a:r>
            <a:endParaRPr lang="en-US" sz="1100" dirty="0"/>
          </a:p>
          <a:p>
            <a:pPr marL="0" indent="0" algn="ctr">
              <a:buNone/>
            </a:pPr>
            <a:r>
              <a:rPr lang="en-US" sz="1100" dirty="0">
                <a:solidFill>
                  <a:srgbClr val="334466"/>
                </a:solidFill>
              </a:rPr>
              <a:t>+ manual slider</a:t>
            </a:r>
            <a:endParaRPr lang="en-US" sz="1100" dirty="0"/>
          </a:p>
        </p:txBody>
      </p:sp>
      <p:sp>
        <p:nvSpPr>
          <p:cNvPr id="37" name="Shape 35"/>
          <p:cNvSpPr/>
          <p:nvPr/>
        </p:nvSpPr>
        <p:spPr>
          <a:xfrm>
            <a:off x="274320" y="3291840"/>
            <a:ext cx="8595360" cy="1463040"/>
          </a:xfrm>
          <a:prstGeom prst="rect">
            <a:avLst/>
          </a:prstGeom>
          <a:solidFill>
            <a:srgbClr val="EEF4FF"/>
          </a:solidFill>
          <a:ln w="12700">
            <a:solidFill>
              <a:srgbClr val="B0C4FF"/>
            </a:solidFill>
            <a:prstDash val="solid"/>
          </a:ln>
        </p:spPr>
      </p:sp>
      <p:sp>
        <p:nvSpPr>
          <p:cNvPr id="38" name="Shape 36"/>
          <p:cNvSpPr/>
          <p:nvPr/>
        </p:nvSpPr>
        <p:spPr>
          <a:xfrm>
            <a:off x="411480" y="3429000"/>
            <a:ext cx="411480" cy="411480"/>
          </a:xfrm>
          <a:prstGeom prst="ellipse">
            <a:avLst/>
          </a:prstGeom>
          <a:solidFill>
            <a:srgbClr val="7C4DFF"/>
          </a:solidFill>
          <a:ln w="12700">
            <a:solidFill>
              <a:srgbClr val="7C4DFF"/>
            </a:solidFill>
            <a:prstDash val="solid"/>
          </a:ln>
        </p:spPr>
      </p:sp>
      <p:sp>
        <p:nvSpPr>
          <p:cNvPr id="39" name="Text 37"/>
          <p:cNvSpPr/>
          <p:nvPr/>
        </p:nvSpPr>
        <p:spPr>
          <a:xfrm>
            <a:off x="411480" y="3429000"/>
            <a:ext cx="411480" cy="411480"/>
          </a:xfrm>
          <a:prstGeom prst="rect">
            <a:avLst/>
          </a:prstGeom>
          <a:noFill/>
          <a:ln/>
        </p:spPr>
        <p:txBody>
          <a:bodyPr wrap="square" lIns="0" tIns="0" rIns="0" bIns="0" rtlCol="0" anchor="ctr"/>
          <a:lstStyle/>
          <a:p>
            <a:pPr marL="0" indent="0" algn="ctr">
              <a:buNone/>
            </a:pPr>
            <a:r>
              <a:rPr lang="en-US" sz="1600" dirty="0">
                <a:solidFill>
                  <a:srgbClr val="000000"/>
                </a:solidFill>
              </a:rPr>
              <a:t>🧠</a:t>
            </a:r>
            <a:endParaRPr lang="en-US" sz="1600" dirty="0"/>
          </a:p>
        </p:txBody>
      </p:sp>
      <p:sp>
        <p:nvSpPr>
          <p:cNvPr id="40" name="Text 38"/>
          <p:cNvSpPr/>
          <p:nvPr/>
        </p:nvSpPr>
        <p:spPr>
          <a:xfrm>
            <a:off x="914400" y="3364992"/>
            <a:ext cx="4572000" cy="347472"/>
          </a:xfrm>
          <a:prstGeom prst="rect">
            <a:avLst/>
          </a:prstGeom>
          <a:noFill/>
          <a:ln/>
        </p:spPr>
        <p:txBody>
          <a:bodyPr wrap="square" lIns="0" tIns="0" rIns="0" bIns="0" rtlCol="0" anchor="ctr"/>
          <a:lstStyle/>
          <a:p>
            <a:pPr marL="0" indent="0">
              <a:buNone/>
            </a:pPr>
            <a:r>
              <a:rPr lang="en-US" sz="1400" b="1" dirty="0">
                <a:solidFill>
                  <a:srgbClr val="16305C"/>
                </a:solidFill>
              </a:rPr>
              <a:t>Optional — GPT-4o-mini Vision Step</a:t>
            </a:r>
            <a:endParaRPr lang="en-US" sz="1400" dirty="0"/>
          </a:p>
        </p:txBody>
      </p:sp>
      <p:sp>
        <p:nvSpPr>
          <p:cNvPr id="41" name="Text 39"/>
          <p:cNvSpPr/>
          <p:nvPr/>
        </p:nvSpPr>
        <p:spPr>
          <a:xfrm>
            <a:off x="457200" y="3712464"/>
            <a:ext cx="8229600" cy="960120"/>
          </a:xfrm>
          <a:prstGeom prst="rect">
            <a:avLst/>
          </a:prstGeom>
          <a:noFill/>
          <a:ln/>
        </p:spPr>
        <p:txBody>
          <a:bodyPr wrap="square" lIns="0" tIns="0" rIns="0" bIns="0" rtlCol="0" anchor="t"/>
          <a:lstStyle/>
          <a:p>
            <a:pPr marL="0" indent="0">
              <a:buNone/>
            </a:pPr>
            <a:r>
              <a:rPr lang="en-US" sz="1100" dirty="0">
                <a:solidFill>
                  <a:srgbClr val="334466"/>
                </a:solidFill>
              </a:rPr>
              <a:t>Sends original image to OpenAI for structured educational caption: image type · notable observations · differential diagnoses · recommended reading modules</a:t>
            </a:r>
            <a:endParaRPr lang="en-US" sz="1100" dirty="0"/>
          </a:p>
          <a:p>
            <a:pPr marL="0" indent="0">
              <a:buNone/>
            </a:pPr>
            <a:r>
              <a:rPr lang="en-US" sz="1100" dirty="0">
                <a:solidFill>
                  <a:srgbClr val="334466"/>
                </a:solidFill>
              </a:rPr>
              <a:t>⚠️ Educational only — not a clinical diagnosis.  User must explicitly click 'Run AI Analysis'</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B40"/>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6305C"/>
          </a:solidFill>
          <a:ln w="12700">
            <a:solidFill>
              <a:srgbClr val="16305C"/>
            </a:solidFill>
            <a:prstDash val="solid"/>
          </a:ln>
        </p:spPr>
      </p:sp>
      <p:sp>
        <p:nvSpPr>
          <p:cNvPr id="3" name="Text 1"/>
          <p:cNvSpPr/>
          <p:nvPr/>
        </p:nvSpPr>
        <p:spPr>
          <a:xfrm>
            <a:off x="365760" y="0"/>
            <a:ext cx="8412480" cy="594360"/>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App Screenshot — CV Analysis Lab</a:t>
            </a:r>
            <a:endParaRPr lang="en-US" sz="2200" dirty="0"/>
          </a:p>
        </p:txBody>
      </p:sp>
      <p:pic>
        <p:nvPicPr>
          <p:cNvPr id="4" name="Image 0" descr="/home/claude/screenshots/cv.png"/>
          <p:cNvPicPr>
            <a:picLocks noChangeAspect="1"/>
          </p:cNvPicPr>
          <p:nvPr/>
        </p:nvPicPr>
        <p:blipFill>
          <a:blip r:embed="rId3"/>
          <a:stretch>
            <a:fillRect/>
          </a:stretch>
        </p:blipFill>
        <p:spPr>
          <a:xfrm>
            <a:off x="274320" y="685800"/>
            <a:ext cx="8595360" cy="4206240"/>
          </a:xfrm>
          <a:prstGeom prst="rect">
            <a:avLst/>
          </a:prstGeom>
          <a:effectLst>
            <a:outerShdw blurRad="101600" dist="25400" dir="8100000" algn="bl" rotWithShape="0">
              <a:srgbClr val="000000">
                <a:alpha val="18000"/>
              </a:srgbClr>
            </a:outerShdw>
          </a:effectLst>
        </p:spPr>
      </p:pic>
      <p:sp>
        <p:nvSpPr>
          <p:cNvPr id="5" name="Text 2"/>
          <p:cNvSpPr/>
          <p:nvPr/>
        </p:nvSpPr>
        <p:spPr>
          <a:xfrm>
            <a:off x="274320" y="4919472"/>
            <a:ext cx="8595360" cy="274320"/>
          </a:xfrm>
          <a:prstGeom prst="rect">
            <a:avLst/>
          </a:prstGeom>
          <a:noFill/>
          <a:ln/>
        </p:spPr>
        <p:txBody>
          <a:bodyPr wrap="square" lIns="0" tIns="0" rIns="0" bIns="0" rtlCol="0" anchor="ctr"/>
          <a:lstStyle/>
          <a:p>
            <a:pPr marL="0" indent="0" algn="ctr">
              <a:buNone/>
            </a:pPr>
            <a:r>
              <a:rPr lang="en-US" sz="1100" dirty="0">
                <a:solidFill>
                  <a:srgbClr val="19D3C5"/>
                </a:solidFill>
              </a:rPr>
              <a:t>Classical CV pipeline: Grayscale → Histogram → Sobel Edges → Otsu Binarisation — runs 100% in-browser</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B40"/>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7C4DFF"/>
          </a:solidFill>
          <a:ln w="12700">
            <a:solidFill>
              <a:srgbClr val="7C4DFF"/>
            </a:solidFill>
            <a:prstDash val="solid"/>
          </a:ln>
        </p:spPr>
      </p:sp>
      <p:sp>
        <p:nvSpPr>
          <p:cNvPr id="3" name="Text 1"/>
          <p:cNvSpPr/>
          <p:nvPr/>
        </p:nvSpPr>
        <p:spPr>
          <a:xfrm>
            <a:off x="365760" y="0"/>
            <a:ext cx="8412480" cy="685800"/>
          </a:xfrm>
          <a:prstGeom prst="rect">
            <a:avLst/>
          </a:prstGeom>
          <a:noFill/>
          <a:ln/>
        </p:spPr>
        <p:txBody>
          <a:bodyPr wrap="square" lIns="0" tIns="0" rIns="0" bIns="0"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AI Integration &amp; Prompt Engineering</a:t>
            </a:r>
            <a:endParaRPr lang="en-US" sz="2600" dirty="0"/>
          </a:p>
        </p:txBody>
      </p:sp>
      <p:sp>
        <p:nvSpPr>
          <p:cNvPr id="4" name="Shape 2"/>
          <p:cNvSpPr/>
          <p:nvPr/>
        </p:nvSpPr>
        <p:spPr>
          <a:xfrm>
            <a:off x="274320" y="822960"/>
            <a:ext cx="4114800" cy="4023360"/>
          </a:xfrm>
          <a:prstGeom prst="rect">
            <a:avLst/>
          </a:prstGeom>
          <a:solidFill>
            <a:srgbClr val="16305C"/>
          </a:solidFill>
          <a:ln w="12700">
            <a:solidFill>
              <a:srgbClr val="3A3A8C"/>
            </a:solidFill>
            <a:prstDash val="solid"/>
          </a:ln>
          <a:effectLst>
            <a:outerShdw blurRad="101600" dist="25400" dir="8100000" algn="bl" rotWithShape="0">
              <a:srgbClr val="000000">
                <a:alpha val="18000"/>
              </a:srgbClr>
            </a:outerShdw>
          </a:effectLst>
        </p:spPr>
      </p:sp>
      <p:sp>
        <p:nvSpPr>
          <p:cNvPr id="5" name="Text 3"/>
          <p:cNvSpPr/>
          <p:nvPr/>
        </p:nvSpPr>
        <p:spPr>
          <a:xfrm>
            <a:off x="365760" y="868680"/>
            <a:ext cx="3931920" cy="411480"/>
          </a:xfrm>
          <a:prstGeom prst="rect">
            <a:avLst/>
          </a:prstGeom>
          <a:noFill/>
          <a:ln/>
        </p:spPr>
        <p:txBody>
          <a:bodyPr wrap="square" lIns="0" tIns="0" rIns="0" bIns="0" rtlCol="0" anchor="ctr"/>
          <a:lstStyle/>
          <a:p>
            <a:pPr marL="0" indent="0">
              <a:buNone/>
            </a:pPr>
            <a:r>
              <a:rPr lang="en-US" sz="1600" b="1" dirty="0">
                <a:solidFill>
                  <a:srgbClr val="19D3C5"/>
                </a:solidFill>
              </a:rPr>
              <a:t>💬 AI Chatbot</a:t>
            </a:r>
            <a:endParaRPr lang="en-US" sz="1600" dirty="0"/>
          </a:p>
        </p:txBody>
      </p:sp>
      <p:sp>
        <p:nvSpPr>
          <p:cNvPr id="6" name="Text 4"/>
          <p:cNvSpPr/>
          <p:nvPr/>
        </p:nvSpPr>
        <p:spPr>
          <a:xfrm>
            <a:off x="365760" y="1335024"/>
            <a:ext cx="3840480" cy="3383280"/>
          </a:xfrm>
          <a:prstGeom prst="rect">
            <a:avLst/>
          </a:prstGeom>
          <a:noFill/>
          <a:ln/>
        </p:spPr>
        <p:txBody>
          <a:bodyPr wrap="square" lIns="0" tIns="0" rIns="0" bIns="0" rtlCol="0" anchor="t"/>
          <a:lstStyle/>
          <a:p>
            <a:pPr marL="0" indent="0">
              <a:buNone/>
            </a:pPr>
            <a:r>
              <a:rPr lang="en-US" sz="1200" dirty="0">
                <a:solidFill>
                  <a:srgbClr val="E8F0FE"/>
                </a:solidFill>
              </a:rPr>
              <a:t>• </a:t>
            </a:r>
            <a:r>
              <a:rPr lang="en-US" sz="1200" b="1" dirty="0">
                <a:solidFill>
                  <a:srgbClr val="E8F0FE"/>
                </a:solidFill>
              </a:rPr>
              <a:t>Model: </a:t>
            </a:r>
            <a:r>
              <a:rPr lang="en-US" sz="1200" dirty="0">
                <a:solidFill>
                  <a:srgbClr val="E8F0FE"/>
                </a:solidFill>
              </a:rPr>
              <a:t>GPT-4o-mini
• Constrained to odontogenic oral pathology domain
• 2–3 paragraph responses; bullet points for features
• Never invents dosages or surgical guidelines
• Graceful fallback to local corpus when no API key
• Knowledge-base scoring via token-frequency matching
• Abort/cancel support for long responses
</a:t>
            </a:r>
            <a:endParaRPr lang="en-US" sz="1200" dirty="0"/>
          </a:p>
        </p:txBody>
      </p:sp>
      <p:sp>
        <p:nvSpPr>
          <p:cNvPr id="7" name="Shape 5"/>
          <p:cNvSpPr/>
          <p:nvPr/>
        </p:nvSpPr>
        <p:spPr>
          <a:xfrm>
            <a:off x="4663440" y="822960"/>
            <a:ext cx="4114800" cy="4023360"/>
          </a:xfrm>
          <a:prstGeom prst="rect">
            <a:avLst/>
          </a:prstGeom>
          <a:solidFill>
            <a:srgbClr val="16305C"/>
          </a:solidFill>
          <a:ln w="12700">
            <a:solidFill>
              <a:srgbClr val="3A3A8C"/>
            </a:solidFill>
            <a:prstDash val="solid"/>
          </a:ln>
          <a:effectLst>
            <a:outerShdw blurRad="101600" dist="25400" dir="8100000" algn="bl" rotWithShape="0">
              <a:srgbClr val="000000">
                <a:alpha val="18000"/>
              </a:srgbClr>
            </a:outerShdw>
          </a:effectLst>
        </p:spPr>
      </p:sp>
      <p:sp>
        <p:nvSpPr>
          <p:cNvPr id="8" name="Text 6"/>
          <p:cNvSpPr/>
          <p:nvPr/>
        </p:nvSpPr>
        <p:spPr>
          <a:xfrm>
            <a:off x="4754880" y="868680"/>
            <a:ext cx="3931920" cy="411480"/>
          </a:xfrm>
          <a:prstGeom prst="rect">
            <a:avLst/>
          </a:prstGeom>
          <a:noFill/>
          <a:ln/>
        </p:spPr>
        <p:txBody>
          <a:bodyPr wrap="square" lIns="0" tIns="0" rIns="0" bIns="0" rtlCol="0" anchor="ctr"/>
          <a:lstStyle/>
          <a:p>
            <a:pPr marL="0" indent="0">
              <a:buNone/>
            </a:pPr>
            <a:r>
              <a:rPr lang="en-US" sz="1600" b="1" dirty="0">
                <a:solidFill>
                  <a:srgbClr val="FFB300"/>
                </a:solidFill>
              </a:rPr>
              <a:t>📄 PDF → Quiz Generator</a:t>
            </a:r>
            <a:endParaRPr lang="en-US" sz="1600" dirty="0"/>
          </a:p>
        </p:txBody>
      </p:sp>
      <p:sp>
        <p:nvSpPr>
          <p:cNvPr id="9" name="Text 7"/>
          <p:cNvSpPr/>
          <p:nvPr/>
        </p:nvSpPr>
        <p:spPr>
          <a:xfrm>
            <a:off x="4754880" y="1335024"/>
            <a:ext cx="3931920" cy="3383280"/>
          </a:xfrm>
          <a:prstGeom prst="rect">
            <a:avLst/>
          </a:prstGeom>
          <a:noFill/>
          <a:ln/>
        </p:spPr>
        <p:txBody>
          <a:bodyPr wrap="square" lIns="0" tIns="0" rIns="0" bIns="0" rtlCol="0" anchor="t"/>
          <a:lstStyle/>
          <a:p>
            <a:pPr marL="0" indent="0">
              <a:buNone/>
            </a:pPr>
            <a:r>
              <a:rPr lang="en-US" sz="1200" dirty="0">
                <a:solidFill>
                  <a:srgbClr val="E8F0FE"/>
                </a:solidFill>
              </a:rPr>
              <a:t>• </a:t>
            </a:r>
            <a:r>
              <a:rPr lang="en-US" sz="1200" b="1" dirty="0">
                <a:solidFill>
                  <a:srgbClr val="E8F0FE"/>
                </a:solidFill>
              </a:rPr>
              <a:t>Model: </a:t>
            </a:r>
            <a:r>
              <a:rPr lang="en-US" sz="1200" dirty="0">
                <a:solidFill>
                  <a:srgbClr val="E8F0FE"/>
                </a:solidFill>
              </a:rPr>
              <a:t>GPT-4o-mini (json_object)
• Faculty uploads PDF → pdf.js extracts text
• Up to 12,000 chars sent (token-bounded)
• Strict JSON schema: 4 opts, 0-based answer index
• Plausible distractors from same dental domain
• Explanation cites passage sentence
• Offline heuristic (cloze MCQ) as fallback
• Google AI Studio (Gemini) explored as alternative
</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B40"/>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3A1A60"/>
          </a:solidFill>
          <a:ln w="12700">
            <a:solidFill>
              <a:srgbClr val="3A1A60"/>
            </a:solidFill>
            <a:prstDash val="solid"/>
          </a:ln>
        </p:spPr>
      </p:sp>
      <p:sp>
        <p:nvSpPr>
          <p:cNvPr id="3" name="Text 1"/>
          <p:cNvSpPr/>
          <p:nvPr/>
        </p:nvSpPr>
        <p:spPr>
          <a:xfrm>
            <a:off x="365760" y="0"/>
            <a:ext cx="8412480" cy="594360"/>
          </a:xfrm>
          <a:prstGeom prst="rect">
            <a:avLst/>
          </a:prstGeom>
          <a:noFill/>
          <a:ln/>
        </p:spPr>
        <p:txBody>
          <a:bodyPr wrap="square" lIns="0" tIns="0" rIns="0" bIns="0"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App Screenshot — AI Chatbot &amp; Faculty PDF Upload</a:t>
            </a:r>
            <a:endParaRPr lang="en-US" sz="2000" dirty="0"/>
          </a:p>
        </p:txBody>
      </p:sp>
      <p:pic>
        <p:nvPicPr>
          <p:cNvPr id="4" name="Image 0" descr="/home/claude/screenshots/chatbot.png"/>
          <p:cNvPicPr>
            <a:picLocks noChangeAspect="1"/>
          </p:cNvPicPr>
          <p:nvPr/>
        </p:nvPicPr>
        <p:blipFill>
          <a:blip r:embed="rId3"/>
          <a:stretch>
            <a:fillRect/>
          </a:stretch>
        </p:blipFill>
        <p:spPr>
          <a:xfrm>
            <a:off x="182880" y="685800"/>
            <a:ext cx="4297680" cy="2103120"/>
          </a:xfrm>
          <a:prstGeom prst="rect">
            <a:avLst/>
          </a:prstGeom>
          <a:effectLst>
            <a:outerShdw blurRad="101600" dist="25400" dir="8100000" algn="bl" rotWithShape="0">
              <a:srgbClr val="000000">
                <a:alpha val="18000"/>
              </a:srgbClr>
            </a:outerShdw>
          </a:effectLst>
        </p:spPr>
      </p:pic>
      <p:pic>
        <p:nvPicPr>
          <p:cNvPr id="5" name="Image 1" descr="/home/claude/screenshots/upload.png"/>
          <p:cNvPicPr>
            <a:picLocks noChangeAspect="1"/>
          </p:cNvPicPr>
          <p:nvPr/>
        </p:nvPicPr>
        <p:blipFill>
          <a:blip r:embed="rId4"/>
          <a:stretch>
            <a:fillRect/>
          </a:stretch>
        </p:blipFill>
        <p:spPr>
          <a:xfrm>
            <a:off x="4663440" y="685800"/>
            <a:ext cx="4297680" cy="2103120"/>
          </a:xfrm>
          <a:prstGeom prst="rect">
            <a:avLst/>
          </a:prstGeom>
          <a:effectLst>
            <a:outerShdw blurRad="101600" dist="25400" dir="8100000" algn="bl" rotWithShape="0">
              <a:srgbClr val="000000">
                <a:alpha val="18000"/>
              </a:srgbClr>
            </a:outerShdw>
          </a:effectLst>
        </p:spPr>
      </p:pic>
      <p:sp>
        <p:nvSpPr>
          <p:cNvPr id="6" name="Text 2"/>
          <p:cNvSpPr/>
          <p:nvPr/>
        </p:nvSpPr>
        <p:spPr>
          <a:xfrm>
            <a:off x="182880" y="2852928"/>
            <a:ext cx="4297680" cy="274320"/>
          </a:xfrm>
          <a:prstGeom prst="rect">
            <a:avLst/>
          </a:prstGeom>
          <a:noFill/>
          <a:ln/>
        </p:spPr>
        <p:txBody>
          <a:bodyPr wrap="square" lIns="0" tIns="0" rIns="0" bIns="0" rtlCol="0" anchor="ctr"/>
          <a:lstStyle/>
          <a:p>
            <a:pPr marL="0" indent="0" algn="ctr">
              <a:buNone/>
            </a:pPr>
            <a:r>
              <a:rPr lang="en-US" sz="1100" dirty="0">
                <a:solidFill>
                  <a:srgbClr val="19D3C5"/>
                </a:solidFill>
              </a:rPr>
              <a:t>AI Chatbot — gpt-4o-mini online mode with fallback to local knowledge base</a:t>
            </a:r>
            <a:endParaRPr lang="en-US" sz="1100" dirty="0"/>
          </a:p>
        </p:txBody>
      </p:sp>
      <p:sp>
        <p:nvSpPr>
          <p:cNvPr id="7" name="Text 3"/>
          <p:cNvSpPr/>
          <p:nvPr/>
        </p:nvSpPr>
        <p:spPr>
          <a:xfrm>
            <a:off x="4663440" y="2852928"/>
            <a:ext cx="4297680" cy="274320"/>
          </a:xfrm>
          <a:prstGeom prst="rect">
            <a:avLst/>
          </a:prstGeom>
          <a:noFill/>
          <a:ln/>
        </p:spPr>
        <p:txBody>
          <a:bodyPr wrap="square" lIns="0" tIns="0" rIns="0" bIns="0" rtlCol="0" anchor="ctr"/>
          <a:lstStyle/>
          <a:p>
            <a:pPr marL="0" indent="0" algn="ctr">
              <a:buNone/>
            </a:pPr>
            <a:r>
              <a:rPr lang="en-US" sz="1100" dirty="0">
                <a:solidFill>
                  <a:srgbClr val="FFB300"/>
                </a:solidFill>
              </a:rPr>
              <a:t>Faculty Upload — PDF→Quiz with GPT-4o-mini MCQ generation and draft preview</a:t>
            </a:r>
            <a:endParaRPr lang="en-US" sz="1100" dirty="0"/>
          </a:p>
        </p:txBody>
      </p:sp>
      <p:pic>
        <p:nvPicPr>
          <p:cNvPr id="8" name="Image 2" descr="/home/claude/screenshots/reading.png"/>
          <p:cNvPicPr>
            <a:picLocks noChangeAspect="1"/>
          </p:cNvPicPr>
          <p:nvPr/>
        </p:nvPicPr>
        <p:blipFill>
          <a:blip r:embed="rId5"/>
          <a:stretch>
            <a:fillRect/>
          </a:stretch>
        </p:blipFill>
        <p:spPr>
          <a:xfrm>
            <a:off x="182880" y="3218688"/>
            <a:ext cx="4297680" cy="2103120"/>
          </a:xfrm>
          <a:prstGeom prst="rect">
            <a:avLst/>
          </a:prstGeom>
          <a:effectLst>
            <a:outerShdw blurRad="101600" dist="25400" dir="8100000" algn="bl" rotWithShape="0">
              <a:srgbClr val="000000">
                <a:alpha val="18000"/>
              </a:srgbClr>
            </a:outerShdw>
          </a:effectLst>
        </p:spPr>
      </p:pic>
      <p:pic>
        <p:nvPicPr>
          <p:cNvPr id="9" name="Image 3" descr="/home/claude/screenshots/login.png"/>
          <p:cNvPicPr>
            <a:picLocks noChangeAspect="1"/>
          </p:cNvPicPr>
          <p:nvPr/>
        </p:nvPicPr>
        <p:blipFill>
          <a:blip r:embed="rId6"/>
          <a:stretch>
            <a:fillRect/>
          </a:stretch>
        </p:blipFill>
        <p:spPr>
          <a:xfrm>
            <a:off x="4663440" y="3218688"/>
            <a:ext cx="4297680" cy="2103120"/>
          </a:xfrm>
          <a:prstGeom prst="rect">
            <a:avLst/>
          </a:prstGeom>
          <a:effectLst>
            <a:outerShdw blurRad="101600" dist="25400" dir="8100000" algn="bl" rotWithShape="0">
              <a:srgbClr val="000000">
                <a:alpha val="18000"/>
              </a:srgbClr>
            </a:outerShdw>
          </a:effectLst>
        </p:spPr>
      </p:pic>
      <p:sp>
        <p:nvSpPr>
          <p:cNvPr id="10" name="Text 4"/>
          <p:cNvSpPr/>
          <p:nvPr/>
        </p:nvSpPr>
        <p:spPr>
          <a:xfrm>
            <a:off x="182880" y="5349240"/>
            <a:ext cx="4297680" cy="256032"/>
          </a:xfrm>
          <a:prstGeom prst="rect">
            <a:avLst/>
          </a:prstGeom>
          <a:noFill/>
          <a:ln/>
        </p:spPr>
        <p:txBody>
          <a:bodyPr wrap="square" lIns="0" tIns="0" rIns="0" bIns="0" rtlCol="0" anchor="ctr"/>
          <a:lstStyle/>
          <a:p>
            <a:pPr marL="0" indent="0" algn="ctr">
              <a:buNone/>
            </a:pPr>
            <a:r>
              <a:rPr lang="en-US" sz="1100" dirty="0">
                <a:solidFill>
                  <a:srgbClr val="19D3C5"/>
                </a:solidFill>
              </a:rPr>
              <a:t>Reading Modules — topic cards with tags, summaries, and direct quiz links</a:t>
            </a:r>
            <a:endParaRPr lang="en-US" sz="1100" dirty="0"/>
          </a:p>
        </p:txBody>
      </p:sp>
      <p:sp>
        <p:nvSpPr>
          <p:cNvPr id="11" name="Text 5"/>
          <p:cNvSpPr/>
          <p:nvPr/>
        </p:nvSpPr>
        <p:spPr>
          <a:xfrm>
            <a:off x="4663440" y="5349240"/>
            <a:ext cx="4297680" cy="256032"/>
          </a:xfrm>
          <a:prstGeom prst="rect">
            <a:avLst/>
          </a:prstGeom>
          <a:noFill/>
          <a:ln/>
        </p:spPr>
        <p:txBody>
          <a:bodyPr wrap="square" lIns="0" tIns="0" rIns="0" bIns="0" rtlCol="0" anchor="ctr"/>
          <a:lstStyle/>
          <a:p>
            <a:pPr marL="0" indent="0" algn="ctr">
              <a:buNone/>
            </a:pPr>
            <a:r>
              <a:rPr lang="en-US" sz="1100" dirty="0">
                <a:solidFill>
                  <a:srgbClr val="19D3C5"/>
                </a:solidFill>
              </a:rPr>
              <a:t>Login — role-based sign-in with student/faculty dashboard routing</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0F6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6305C"/>
          </a:solidFill>
          <a:ln w="12700">
            <a:solidFill>
              <a:srgbClr val="16305C"/>
            </a:solidFill>
            <a:prstDash val="solid"/>
          </a:ln>
        </p:spPr>
      </p:sp>
      <p:sp>
        <p:nvSpPr>
          <p:cNvPr id="3" name="Text 1"/>
          <p:cNvSpPr/>
          <p:nvPr/>
        </p:nvSpPr>
        <p:spPr>
          <a:xfrm>
            <a:off x="365760" y="0"/>
            <a:ext cx="8412480" cy="685800"/>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Augmented Reality Module</a:t>
            </a:r>
            <a:endParaRPr lang="en-US" sz="2800" dirty="0"/>
          </a:p>
        </p:txBody>
      </p:sp>
      <p:sp>
        <p:nvSpPr>
          <p:cNvPr id="4" name="Shape 2"/>
          <p:cNvSpPr/>
          <p:nvPr/>
        </p:nvSpPr>
        <p:spPr>
          <a:xfrm>
            <a:off x="274320" y="822960"/>
            <a:ext cx="4114800" cy="3977640"/>
          </a:xfrm>
          <a:prstGeom prst="rect">
            <a:avLst/>
          </a:prstGeom>
          <a:solidFill>
            <a:srgbClr val="FFFFFF"/>
          </a:solidFill>
          <a:ln w="12700">
            <a:solidFill>
              <a:srgbClr val="C0D5FF"/>
            </a:solidFill>
            <a:prstDash val="solid"/>
          </a:ln>
          <a:effectLst>
            <a:outerShdw blurRad="101600" dist="25400" dir="8100000" algn="bl" rotWithShape="0">
              <a:srgbClr val="000000">
                <a:alpha val="18000"/>
              </a:srgbClr>
            </a:outerShdw>
          </a:effectLst>
        </p:spPr>
      </p:sp>
      <p:sp>
        <p:nvSpPr>
          <p:cNvPr id="5" name="Text 3"/>
          <p:cNvSpPr/>
          <p:nvPr/>
        </p:nvSpPr>
        <p:spPr>
          <a:xfrm>
            <a:off x="1188720" y="914400"/>
            <a:ext cx="2286000" cy="1645920"/>
          </a:xfrm>
          <a:prstGeom prst="rect">
            <a:avLst/>
          </a:prstGeom>
          <a:noFill/>
          <a:ln/>
        </p:spPr>
        <p:txBody>
          <a:bodyPr wrap="square" lIns="0" tIns="0" rIns="0" bIns="0" rtlCol="0" anchor="ctr"/>
          <a:lstStyle/>
          <a:p>
            <a:pPr marL="0" indent="0" algn="ctr">
              <a:buNone/>
            </a:pPr>
            <a:r>
              <a:rPr lang="en-US" sz="8000" dirty="0">
                <a:solidFill>
                  <a:srgbClr val="000000"/>
                </a:solidFill>
              </a:rPr>
              <a:t>🦷</a:t>
            </a:r>
            <a:endParaRPr lang="en-US" sz="8000" dirty="0"/>
          </a:p>
        </p:txBody>
      </p:sp>
      <p:sp>
        <p:nvSpPr>
          <p:cNvPr id="6" name="Text 4"/>
          <p:cNvSpPr/>
          <p:nvPr/>
        </p:nvSpPr>
        <p:spPr>
          <a:xfrm>
            <a:off x="365760" y="2606040"/>
            <a:ext cx="3931920" cy="347472"/>
          </a:xfrm>
          <a:prstGeom prst="rect">
            <a:avLst/>
          </a:prstGeom>
          <a:noFill/>
          <a:ln/>
        </p:spPr>
        <p:txBody>
          <a:bodyPr wrap="square" lIns="0" tIns="0" rIns="0" bIns="0" rtlCol="0" anchor="ctr"/>
          <a:lstStyle/>
          <a:p>
            <a:pPr marL="0" indent="0" algn="ctr">
              <a:buNone/>
            </a:pPr>
            <a:r>
              <a:rPr lang="en-US" sz="1400" b="1" dirty="0">
                <a:solidFill>
                  <a:srgbClr val="16305C"/>
                </a:solidFill>
              </a:rPr>
              <a:t>model-viewer (Google)</a:t>
            </a:r>
            <a:endParaRPr lang="en-US" sz="1400" dirty="0"/>
          </a:p>
        </p:txBody>
      </p:sp>
      <p:sp>
        <p:nvSpPr>
          <p:cNvPr id="7" name="Text 5"/>
          <p:cNvSpPr/>
          <p:nvPr/>
        </p:nvSpPr>
        <p:spPr>
          <a:xfrm>
            <a:off x="365760" y="2971800"/>
            <a:ext cx="3931920" cy="1737360"/>
          </a:xfrm>
          <a:prstGeom prst="rect">
            <a:avLst/>
          </a:prstGeom>
          <a:noFill/>
          <a:ln/>
        </p:spPr>
        <p:txBody>
          <a:bodyPr wrap="square" lIns="0" tIns="0" rIns="0" bIns="0" rtlCol="0" anchor="t"/>
          <a:lstStyle/>
          <a:p>
            <a:pPr marL="0" indent="0" algn="ctr">
              <a:buNone/>
            </a:pPr>
            <a:r>
              <a:rPr lang="en-US" sz="1200" dirty="0">
                <a:solidFill>
                  <a:srgbClr val="334466"/>
                </a:solidFill>
              </a:rPr>
              <a:t>WebXR · ARCore (Android)</a:t>
            </a:r>
            <a:endParaRPr lang="en-US" sz="1200" dirty="0"/>
          </a:p>
          <a:p>
            <a:pPr marL="0" indent="0" algn="ctr">
              <a:buNone/>
            </a:pPr>
            <a:r>
              <a:rPr lang="en-US" sz="1200" dirty="0">
                <a:solidFill>
                  <a:srgbClr val="334466"/>
                </a:solidFill>
              </a:rPr>
              <a:t>Quick Look USDZ (iOS)</a:t>
            </a:r>
            <a:endParaRPr lang="en-US" sz="1200" dirty="0"/>
          </a:p>
          <a:p>
            <a:pPr marL="0" indent="0" algn="ctr">
              <a:buNone/>
            </a:pPr>
            <a:r>
              <a:rPr lang="en-US" sz="1200" dirty="0">
                <a:solidFill>
                  <a:srgbClr val="334466"/>
                </a:solidFill>
              </a:rPr>
              <a:t>NIH 3D Print Exchange models</a:t>
            </a:r>
            <a:endParaRPr lang="en-US" sz="1200" dirty="0"/>
          </a:p>
          <a:p>
            <a:pPr marL="0" indent="0" algn="ctr">
              <a:buNone/>
            </a:pPr>
            <a:r>
              <a:rPr lang="en-US" sz="1200" dirty="0">
                <a:solidFill>
                  <a:srgbClr val="334466"/>
                </a:solidFill>
              </a:rPr>
              <a:t>Annotated hotspots linked to reading modules</a:t>
            </a:r>
            <a:endParaRPr lang="en-US" sz="1200" dirty="0"/>
          </a:p>
        </p:txBody>
      </p:sp>
      <p:sp>
        <p:nvSpPr>
          <p:cNvPr id="8" name="Shape 6"/>
          <p:cNvSpPr/>
          <p:nvPr/>
        </p:nvSpPr>
        <p:spPr>
          <a:xfrm>
            <a:off x="4663440" y="822960"/>
            <a:ext cx="4206240" cy="914400"/>
          </a:xfrm>
          <a:prstGeom prst="rect">
            <a:avLst/>
          </a:prstGeom>
          <a:solidFill>
            <a:srgbClr val="FFFFFF"/>
          </a:solidFill>
          <a:ln w="12700">
            <a:solidFill>
              <a:srgbClr val="C0D5FF"/>
            </a:solidFill>
            <a:prstDash val="solid"/>
          </a:ln>
          <a:effectLst>
            <a:outerShdw blurRad="101600" dist="25400" dir="8100000" algn="bl" rotWithShape="0">
              <a:srgbClr val="000000">
                <a:alpha val="18000"/>
              </a:srgbClr>
            </a:outerShdw>
          </a:effectLst>
        </p:spPr>
      </p:sp>
      <p:sp>
        <p:nvSpPr>
          <p:cNvPr id="9" name="Text 7"/>
          <p:cNvSpPr/>
          <p:nvPr/>
        </p:nvSpPr>
        <p:spPr>
          <a:xfrm>
            <a:off x="4754880" y="877824"/>
            <a:ext cx="4023360" cy="347472"/>
          </a:xfrm>
          <a:prstGeom prst="rect">
            <a:avLst/>
          </a:prstGeom>
          <a:noFill/>
          <a:ln/>
        </p:spPr>
        <p:txBody>
          <a:bodyPr wrap="square" lIns="0" tIns="0" rIns="0" bIns="0" rtlCol="0" anchor="ctr"/>
          <a:lstStyle/>
          <a:p>
            <a:pPr marL="0" indent="0">
              <a:buNone/>
            </a:pPr>
            <a:r>
              <a:rPr lang="en-US" sz="1300" b="1" dirty="0">
                <a:solidFill>
                  <a:srgbClr val="16305C"/>
                </a:solidFill>
              </a:rPr>
              <a:t>🔍 Inspect Mode</a:t>
            </a:r>
            <a:endParaRPr lang="en-US" sz="1300" dirty="0"/>
          </a:p>
        </p:txBody>
      </p:sp>
      <p:sp>
        <p:nvSpPr>
          <p:cNvPr id="10" name="Text 8"/>
          <p:cNvSpPr/>
          <p:nvPr/>
        </p:nvSpPr>
        <p:spPr>
          <a:xfrm>
            <a:off x="4754880" y="1243584"/>
            <a:ext cx="4023360" cy="438912"/>
          </a:xfrm>
          <a:prstGeom prst="rect">
            <a:avLst/>
          </a:prstGeom>
          <a:noFill/>
          <a:ln/>
        </p:spPr>
        <p:txBody>
          <a:bodyPr wrap="square" lIns="0" tIns="0" rIns="0" bIns="0" rtlCol="0" anchor="t"/>
          <a:lstStyle/>
          <a:p>
            <a:pPr marL="0" indent="0">
              <a:buNone/>
            </a:pPr>
            <a:r>
              <a:rPr lang="en-US" sz="1100" dirty="0">
                <a:solidFill>
                  <a:srgbClr val="334466"/>
                </a:solidFill>
              </a:rPr>
              <a:t>Rotate, zoom, pan — orbit controls on any device. Labels link to pathology notes.</a:t>
            </a:r>
            <a:endParaRPr lang="en-US" sz="1100" dirty="0"/>
          </a:p>
        </p:txBody>
      </p:sp>
      <p:sp>
        <p:nvSpPr>
          <p:cNvPr id="11" name="Shape 9"/>
          <p:cNvSpPr/>
          <p:nvPr/>
        </p:nvSpPr>
        <p:spPr>
          <a:xfrm>
            <a:off x="4663440" y="1828800"/>
            <a:ext cx="4206240" cy="914400"/>
          </a:xfrm>
          <a:prstGeom prst="rect">
            <a:avLst/>
          </a:prstGeom>
          <a:solidFill>
            <a:srgbClr val="FFFFFF"/>
          </a:solidFill>
          <a:ln w="12700">
            <a:solidFill>
              <a:srgbClr val="C0D5FF"/>
            </a:solidFill>
            <a:prstDash val="solid"/>
          </a:ln>
          <a:effectLst>
            <a:outerShdw blurRad="101600" dist="25400" dir="8100000" algn="bl" rotWithShape="0">
              <a:srgbClr val="000000">
                <a:alpha val="18000"/>
              </a:srgbClr>
            </a:outerShdw>
          </a:effectLst>
        </p:spPr>
      </p:sp>
      <p:sp>
        <p:nvSpPr>
          <p:cNvPr id="12" name="Text 10"/>
          <p:cNvSpPr/>
          <p:nvPr/>
        </p:nvSpPr>
        <p:spPr>
          <a:xfrm>
            <a:off x="4754880" y="1883664"/>
            <a:ext cx="4023360" cy="347472"/>
          </a:xfrm>
          <a:prstGeom prst="rect">
            <a:avLst/>
          </a:prstGeom>
          <a:noFill/>
          <a:ln/>
        </p:spPr>
        <p:txBody>
          <a:bodyPr wrap="square" lIns="0" tIns="0" rIns="0" bIns="0" rtlCol="0" anchor="ctr"/>
          <a:lstStyle/>
          <a:p>
            <a:pPr marL="0" indent="0">
              <a:buNone/>
            </a:pPr>
            <a:r>
              <a:rPr lang="en-US" sz="1300" b="1" dirty="0">
                <a:solidFill>
                  <a:srgbClr val="16305C"/>
                </a:solidFill>
              </a:rPr>
              <a:t>⇆ Compare Mode</a:t>
            </a:r>
            <a:endParaRPr lang="en-US" sz="1300" dirty="0"/>
          </a:p>
        </p:txBody>
      </p:sp>
      <p:sp>
        <p:nvSpPr>
          <p:cNvPr id="13" name="Text 11"/>
          <p:cNvSpPr/>
          <p:nvPr/>
        </p:nvSpPr>
        <p:spPr>
          <a:xfrm>
            <a:off x="4754880" y="2249424"/>
            <a:ext cx="4023360" cy="438912"/>
          </a:xfrm>
          <a:prstGeom prst="rect">
            <a:avLst/>
          </a:prstGeom>
          <a:noFill/>
          <a:ln/>
        </p:spPr>
        <p:txBody>
          <a:bodyPr wrap="square" lIns="0" tIns="0" rIns="0" bIns="0" rtlCol="0" anchor="t"/>
          <a:lstStyle/>
          <a:p>
            <a:pPr marL="0" indent="0">
              <a:buNone/>
            </a:pPr>
            <a:r>
              <a:rPr lang="en-US" sz="1100" dirty="0">
                <a:solidFill>
                  <a:srgbClr val="334466"/>
                </a:solidFill>
              </a:rPr>
              <a:t>Side-by-side two models — correlate normal anatomy with pathological presentations.</a:t>
            </a:r>
            <a:endParaRPr lang="en-US" sz="1100" dirty="0"/>
          </a:p>
        </p:txBody>
      </p:sp>
      <p:sp>
        <p:nvSpPr>
          <p:cNvPr id="14" name="Shape 12"/>
          <p:cNvSpPr/>
          <p:nvPr/>
        </p:nvSpPr>
        <p:spPr>
          <a:xfrm>
            <a:off x="4663440" y="2834640"/>
            <a:ext cx="4206240" cy="914400"/>
          </a:xfrm>
          <a:prstGeom prst="rect">
            <a:avLst/>
          </a:prstGeom>
          <a:solidFill>
            <a:srgbClr val="FFFFFF"/>
          </a:solidFill>
          <a:ln w="12700">
            <a:solidFill>
              <a:srgbClr val="C0D5FF"/>
            </a:solidFill>
            <a:prstDash val="solid"/>
          </a:ln>
          <a:effectLst>
            <a:outerShdw blurRad="101600" dist="25400" dir="8100000" algn="bl" rotWithShape="0">
              <a:srgbClr val="000000">
                <a:alpha val="18000"/>
              </a:srgbClr>
            </a:outerShdw>
          </a:effectLst>
        </p:spPr>
      </p:sp>
      <p:sp>
        <p:nvSpPr>
          <p:cNvPr id="15" name="Text 13"/>
          <p:cNvSpPr/>
          <p:nvPr/>
        </p:nvSpPr>
        <p:spPr>
          <a:xfrm>
            <a:off x="4754880" y="2889504"/>
            <a:ext cx="4023360" cy="347472"/>
          </a:xfrm>
          <a:prstGeom prst="rect">
            <a:avLst/>
          </a:prstGeom>
          <a:noFill/>
          <a:ln/>
        </p:spPr>
        <p:txBody>
          <a:bodyPr wrap="square" lIns="0" tIns="0" rIns="0" bIns="0" rtlCol="0" anchor="ctr"/>
          <a:lstStyle/>
          <a:p>
            <a:pPr marL="0" indent="0">
              <a:buNone/>
            </a:pPr>
            <a:r>
              <a:rPr lang="en-US" sz="1300" b="1" dirty="0">
                <a:solidFill>
                  <a:srgbClr val="16305C"/>
                </a:solidFill>
              </a:rPr>
              <a:t>📱 AR Projection</a:t>
            </a:r>
            <a:endParaRPr lang="en-US" sz="1300" dirty="0"/>
          </a:p>
        </p:txBody>
      </p:sp>
      <p:sp>
        <p:nvSpPr>
          <p:cNvPr id="16" name="Text 14"/>
          <p:cNvSpPr/>
          <p:nvPr/>
        </p:nvSpPr>
        <p:spPr>
          <a:xfrm>
            <a:off x="4754880" y="3255264"/>
            <a:ext cx="4023360" cy="438912"/>
          </a:xfrm>
          <a:prstGeom prst="rect">
            <a:avLst/>
          </a:prstGeom>
          <a:noFill/>
          <a:ln/>
        </p:spPr>
        <p:txBody>
          <a:bodyPr wrap="square" lIns="0" tIns="0" rIns="0" bIns="0" rtlCol="0" anchor="t"/>
          <a:lstStyle/>
          <a:p>
            <a:pPr marL="0" indent="0">
              <a:buNone/>
            </a:pPr>
            <a:r>
              <a:rPr lang="en-US" sz="1100" dirty="0">
                <a:solidFill>
                  <a:srgbClr val="334466"/>
                </a:solidFill>
              </a:rPr>
              <a:t>Tap 'View in your space' on ARCore Android — projects at true 1:1 scale in your room.</a:t>
            </a:r>
            <a:endParaRPr lang="en-US" sz="1100" dirty="0"/>
          </a:p>
        </p:txBody>
      </p:sp>
      <p:sp>
        <p:nvSpPr>
          <p:cNvPr id="17" name="Shape 15"/>
          <p:cNvSpPr/>
          <p:nvPr/>
        </p:nvSpPr>
        <p:spPr>
          <a:xfrm>
            <a:off x="4663440" y="3840480"/>
            <a:ext cx="4206240" cy="914400"/>
          </a:xfrm>
          <a:prstGeom prst="rect">
            <a:avLst/>
          </a:prstGeom>
          <a:solidFill>
            <a:srgbClr val="FFFFFF"/>
          </a:solidFill>
          <a:ln w="12700">
            <a:solidFill>
              <a:srgbClr val="C0D5FF"/>
            </a:solidFill>
            <a:prstDash val="solid"/>
          </a:ln>
          <a:effectLst>
            <a:outerShdw blurRad="101600" dist="25400" dir="8100000" algn="bl" rotWithShape="0">
              <a:srgbClr val="000000">
                <a:alpha val="18000"/>
              </a:srgbClr>
            </a:outerShdw>
          </a:effectLst>
        </p:spPr>
      </p:sp>
      <p:sp>
        <p:nvSpPr>
          <p:cNvPr id="18" name="Text 16"/>
          <p:cNvSpPr/>
          <p:nvPr/>
        </p:nvSpPr>
        <p:spPr>
          <a:xfrm>
            <a:off x="4754880" y="3895344"/>
            <a:ext cx="4023360" cy="347472"/>
          </a:xfrm>
          <a:prstGeom prst="rect">
            <a:avLst/>
          </a:prstGeom>
          <a:noFill/>
          <a:ln/>
        </p:spPr>
        <p:txBody>
          <a:bodyPr wrap="square" lIns="0" tIns="0" rIns="0" bIns="0" rtlCol="0" anchor="ctr"/>
          <a:lstStyle/>
          <a:p>
            <a:pPr marL="0" indent="0">
              <a:buNone/>
            </a:pPr>
            <a:r>
              <a:rPr lang="en-US" sz="1300" b="1" dirty="0">
                <a:solidFill>
                  <a:srgbClr val="16305C"/>
                </a:solidFill>
              </a:rPr>
              <a:t>🎯 Hotspots</a:t>
            </a:r>
            <a:endParaRPr lang="en-US" sz="1300" dirty="0"/>
          </a:p>
        </p:txBody>
      </p:sp>
      <p:sp>
        <p:nvSpPr>
          <p:cNvPr id="19" name="Text 17"/>
          <p:cNvSpPr/>
          <p:nvPr/>
        </p:nvSpPr>
        <p:spPr>
          <a:xfrm>
            <a:off x="4754880" y="4261104"/>
            <a:ext cx="4023360" cy="438912"/>
          </a:xfrm>
          <a:prstGeom prst="rect">
            <a:avLst/>
          </a:prstGeom>
          <a:noFill/>
          <a:ln/>
        </p:spPr>
        <p:txBody>
          <a:bodyPr wrap="square" lIns="0" tIns="0" rIns="0" bIns="0" rtlCol="0" anchor="t"/>
          <a:lstStyle/>
          <a:p>
            <a:pPr marL="0" indent="0">
              <a:buNone/>
            </a:pPr>
            <a:r>
              <a:rPr lang="en-US" sz="1100" dirty="0">
                <a:solidFill>
                  <a:srgbClr val="334466"/>
                </a:solidFill>
              </a:rPr>
              <a:t>Dynamic annotations calculated from model bounding box — update on model load.</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1B40"/>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6305C"/>
          </a:solidFill>
          <a:ln w="12700">
            <a:solidFill>
              <a:srgbClr val="16305C"/>
            </a:solidFill>
            <a:prstDash val="solid"/>
          </a:ln>
        </p:spPr>
      </p:sp>
      <p:sp>
        <p:nvSpPr>
          <p:cNvPr id="3" name="Text 1"/>
          <p:cNvSpPr/>
          <p:nvPr/>
        </p:nvSpPr>
        <p:spPr>
          <a:xfrm>
            <a:off x="365760" y="0"/>
            <a:ext cx="8412480" cy="594360"/>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App Screenshot — 3D &amp; AR Viewer</a:t>
            </a:r>
            <a:endParaRPr lang="en-US" sz="2200" dirty="0"/>
          </a:p>
        </p:txBody>
      </p:sp>
      <p:pic>
        <p:nvPicPr>
          <p:cNvPr id="4" name="Image 0" descr="/home/claude/screenshots/ar.png"/>
          <p:cNvPicPr>
            <a:picLocks noChangeAspect="1"/>
          </p:cNvPicPr>
          <p:nvPr/>
        </p:nvPicPr>
        <p:blipFill>
          <a:blip r:embed="rId3"/>
          <a:stretch>
            <a:fillRect/>
          </a:stretch>
        </p:blipFill>
        <p:spPr>
          <a:xfrm>
            <a:off x="274320" y="685800"/>
            <a:ext cx="8595360" cy="4206240"/>
          </a:xfrm>
          <a:prstGeom prst="rect">
            <a:avLst/>
          </a:prstGeom>
          <a:effectLst>
            <a:outerShdw blurRad="101600" dist="25400" dir="8100000" algn="bl" rotWithShape="0">
              <a:srgbClr val="000000">
                <a:alpha val="18000"/>
              </a:srgbClr>
            </a:outerShdw>
          </a:effectLst>
        </p:spPr>
      </p:pic>
      <p:sp>
        <p:nvSpPr>
          <p:cNvPr id="5" name="Text 2"/>
          <p:cNvSpPr/>
          <p:nvPr/>
        </p:nvSpPr>
        <p:spPr>
          <a:xfrm>
            <a:off x="274320" y="4919472"/>
            <a:ext cx="8595360" cy="274320"/>
          </a:xfrm>
          <a:prstGeom prst="rect">
            <a:avLst/>
          </a:prstGeom>
          <a:noFill/>
          <a:ln/>
        </p:spPr>
        <p:txBody>
          <a:bodyPr wrap="square" lIns="0" tIns="0" rIns="0" bIns="0" rtlCol="0" anchor="ctr"/>
          <a:lstStyle/>
          <a:p>
            <a:pPr marL="0" indent="0" algn="ctr">
              <a:buNone/>
            </a:pPr>
            <a:r>
              <a:rPr lang="en-US" sz="1100" dirty="0">
                <a:solidFill>
                  <a:srgbClr val="19D3C5"/>
                </a:solidFill>
              </a:rPr>
              <a:t>model-viewer: model selection · interactive 3D orbit · hotspot annotations · ARCore 'View in your space' button</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D1B40"/>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E8F87"/>
          </a:solidFill>
          <a:ln w="12700">
            <a:solidFill>
              <a:srgbClr val="0E8F87"/>
            </a:solidFill>
            <a:prstDash val="solid"/>
          </a:ln>
        </p:spPr>
      </p:sp>
      <p:sp>
        <p:nvSpPr>
          <p:cNvPr id="3" name="Text 1"/>
          <p:cNvSpPr/>
          <p:nvPr/>
        </p:nvSpPr>
        <p:spPr>
          <a:xfrm>
            <a:off x="365760" y="0"/>
            <a:ext cx="8412480" cy="685800"/>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Results &amp; Discussion</a:t>
            </a:r>
            <a:endParaRPr lang="en-US" sz="2800" dirty="0"/>
          </a:p>
        </p:txBody>
      </p:sp>
      <p:sp>
        <p:nvSpPr>
          <p:cNvPr id="4" name="Shape 2"/>
          <p:cNvSpPr/>
          <p:nvPr/>
        </p:nvSpPr>
        <p:spPr>
          <a:xfrm>
            <a:off x="274320" y="822960"/>
            <a:ext cx="1554480" cy="1280160"/>
          </a:xfrm>
          <a:prstGeom prst="rect">
            <a:avLst/>
          </a:prstGeom>
          <a:solidFill>
            <a:srgbClr val="16305C"/>
          </a:solidFill>
          <a:ln w="12700">
            <a:solidFill>
              <a:srgbClr val="0E8F87"/>
            </a:solidFill>
            <a:prstDash val="solid"/>
          </a:ln>
          <a:effectLst>
            <a:outerShdw blurRad="101600" dist="25400" dir="8100000" algn="bl" rotWithShape="0">
              <a:srgbClr val="000000">
                <a:alpha val="18000"/>
              </a:srgbClr>
            </a:outerShdw>
          </a:effectLst>
        </p:spPr>
      </p:sp>
      <p:sp>
        <p:nvSpPr>
          <p:cNvPr id="5" name="Text 3"/>
          <p:cNvSpPr/>
          <p:nvPr/>
        </p:nvSpPr>
        <p:spPr>
          <a:xfrm>
            <a:off x="274320" y="868680"/>
            <a:ext cx="1554480" cy="658368"/>
          </a:xfrm>
          <a:prstGeom prst="rect">
            <a:avLst/>
          </a:prstGeom>
          <a:noFill/>
          <a:ln/>
        </p:spPr>
        <p:txBody>
          <a:bodyPr wrap="square" lIns="0" tIns="0" rIns="0" bIns="0" rtlCol="0" anchor="ctr"/>
          <a:lstStyle/>
          <a:p>
            <a:pPr marL="0" indent="0" algn="ctr">
              <a:buNone/>
            </a:pPr>
            <a:r>
              <a:rPr lang="en-US" sz="2800" b="1" dirty="0">
                <a:solidFill>
                  <a:srgbClr val="19D3C5"/>
                </a:solidFill>
              </a:rPr>
              <a:t>8</a:t>
            </a:r>
            <a:endParaRPr lang="en-US" sz="2800" dirty="0"/>
          </a:p>
        </p:txBody>
      </p:sp>
      <p:sp>
        <p:nvSpPr>
          <p:cNvPr id="6" name="Text 4"/>
          <p:cNvSpPr/>
          <p:nvPr/>
        </p:nvSpPr>
        <p:spPr>
          <a:xfrm>
            <a:off x="274320" y="1527048"/>
            <a:ext cx="1554480" cy="512064"/>
          </a:xfrm>
          <a:prstGeom prst="rect">
            <a:avLst/>
          </a:prstGeom>
          <a:noFill/>
          <a:ln/>
        </p:spPr>
        <p:txBody>
          <a:bodyPr wrap="square" lIns="0" tIns="0" rIns="0" bIns="0" rtlCol="0" anchor="t"/>
          <a:lstStyle/>
          <a:p>
            <a:pPr marL="0" indent="0" algn="ctr">
              <a:buNone/>
            </a:pPr>
            <a:r>
              <a:rPr lang="en-US" sz="1100" dirty="0">
                <a:solidFill>
                  <a:srgbClr val="E8F0FE"/>
                </a:solidFill>
              </a:rPr>
              <a:t>Reading</a:t>
            </a:r>
            <a:endParaRPr lang="en-US" sz="1100" dirty="0"/>
          </a:p>
          <a:p>
            <a:pPr marL="0" indent="0" algn="ctr">
              <a:buNone/>
            </a:pPr>
            <a:r>
              <a:rPr lang="en-US" sz="1100" dirty="0">
                <a:solidFill>
                  <a:srgbClr val="E8F0FE"/>
                </a:solidFill>
              </a:rPr>
              <a:t>Modules</a:t>
            </a:r>
            <a:endParaRPr lang="en-US" sz="1100" dirty="0"/>
          </a:p>
        </p:txBody>
      </p:sp>
      <p:sp>
        <p:nvSpPr>
          <p:cNvPr id="7" name="Shape 5"/>
          <p:cNvSpPr/>
          <p:nvPr/>
        </p:nvSpPr>
        <p:spPr>
          <a:xfrm>
            <a:off x="2011680" y="822960"/>
            <a:ext cx="1554480" cy="1280160"/>
          </a:xfrm>
          <a:prstGeom prst="rect">
            <a:avLst/>
          </a:prstGeom>
          <a:solidFill>
            <a:srgbClr val="16305C"/>
          </a:solidFill>
          <a:ln w="12700">
            <a:solidFill>
              <a:srgbClr val="0E8F87"/>
            </a:solidFill>
            <a:prstDash val="solid"/>
          </a:ln>
          <a:effectLst>
            <a:outerShdw blurRad="101600" dist="25400" dir="8100000" algn="bl" rotWithShape="0">
              <a:srgbClr val="000000">
                <a:alpha val="18000"/>
              </a:srgbClr>
            </a:outerShdw>
          </a:effectLst>
        </p:spPr>
      </p:sp>
      <p:sp>
        <p:nvSpPr>
          <p:cNvPr id="8" name="Text 6"/>
          <p:cNvSpPr/>
          <p:nvPr/>
        </p:nvSpPr>
        <p:spPr>
          <a:xfrm>
            <a:off x="2011680" y="868680"/>
            <a:ext cx="1554480" cy="658368"/>
          </a:xfrm>
          <a:prstGeom prst="rect">
            <a:avLst/>
          </a:prstGeom>
          <a:noFill/>
          <a:ln/>
        </p:spPr>
        <p:txBody>
          <a:bodyPr wrap="square" lIns="0" tIns="0" rIns="0" bIns="0" rtlCol="0" anchor="ctr"/>
          <a:lstStyle/>
          <a:p>
            <a:pPr marL="0" indent="0" algn="ctr">
              <a:buNone/>
            </a:pPr>
            <a:r>
              <a:rPr lang="en-US" sz="2800" b="1" dirty="0">
                <a:solidFill>
                  <a:srgbClr val="19D3C5"/>
                </a:solidFill>
              </a:rPr>
              <a:t>60+</a:t>
            </a:r>
            <a:endParaRPr lang="en-US" sz="2800" dirty="0"/>
          </a:p>
        </p:txBody>
      </p:sp>
      <p:sp>
        <p:nvSpPr>
          <p:cNvPr id="9" name="Text 7"/>
          <p:cNvSpPr/>
          <p:nvPr/>
        </p:nvSpPr>
        <p:spPr>
          <a:xfrm>
            <a:off x="2011680" y="1527048"/>
            <a:ext cx="1554480" cy="512064"/>
          </a:xfrm>
          <a:prstGeom prst="rect">
            <a:avLst/>
          </a:prstGeom>
          <a:noFill/>
          <a:ln/>
        </p:spPr>
        <p:txBody>
          <a:bodyPr wrap="square" lIns="0" tIns="0" rIns="0" bIns="0" rtlCol="0" anchor="t"/>
          <a:lstStyle/>
          <a:p>
            <a:pPr marL="0" indent="0" algn="ctr">
              <a:buNone/>
            </a:pPr>
            <a:r>
              <a:rPr lang="en-US" sz="1100" dirty="0">
                <a:solidFill>
                  <a:srgbClr val="E8F0FE"/>
                </a:solidFill>
              </a:rPr>
              <a:t>Curated</a:t>
            </a:r>
            <a:endParaRPr lang="en-US" sz="1100" dirty="0"/>
          </a:p>
          <a:p>
            <a:pPr marL="0" indent="0" algn="ctr">
              <a:buNone/>
            </a:pPr>
            <a:r>
              <a:rPr lang="en-US" sz="1100" dirty="0">
                <a:solidFill>
                  <a:srgbClr val="E8F0FE"/>
                </a:solidFill>
              </a:rPr>
              <a:t>MCQs</a:t>
            </a:r>
            <a:endParaRPr lang="en-US" sz="1100" dirty="0"/>
          </a:p>
        </p:txBody>
      </p:sp>
      <p:sp>
        <p:nvSpPr>
          <p:cNvPr id="10" name="Shape 8"/>
          <p:cNvSpPr/>
          <p:nvPr/>
        </p:nvSpPr>
        <p:spPr>
          <a:xfrm>
            <a:off x="3749040" y="822960"/>
            <a:ext cx="1554480" cy="1280160"/>
          </a:xfrm>
          <a:prstGeom prst="rect">
            <a:avLst/>
          </a:prstGeom>
          <a:solidFill>
            <a:srgbClr val="16305C"/>
          </a:solidFill>
          <a:ln w="12700">
            <a:solidFill>
              <a:srgbClr val="0E8F87"/>
            </a:solidFill>
            <a:prstDash val="solid"/>
          </a:ln>
          <a:effectLst>
            <a:outerShdw blurRad="101600" dist="25400" dir="8100000" algn="bl" rotWithShape="0">
              <a:srgbClr val="000000">
                <a:alpha val="18000"/>
              </a:srgbClr>
            </a:outerShdw>
          </a:effectLst>
        </p:spPr>
      </p:sp>
      <p:sp>
        <p:nvSpPr>
          <p:cNvPr id="11" name="Text 9"/>
          <p:cNvSpPr/>
          <p:nvPr/>
        </p:nvSpPr>
        <p:spPr>
          <a:xfrm>
            <a:off x="3749040" y="868680"/>
            <a:ext cx="1554480" cy="658368"/>
          </a:xfrm>
          <a:prstGeom prst="rect">
            <a:avLst/>
          </a:prstGeom>
          <a:noFill/>
          <a:ln/>
        </p:spPr>
        <p:txBody>
          <a:bodyPr wrap="square" lIns="0" tIns="0" rIns="0" bIns="0" rtlCol="0" anchor="ctr"/>
          <a:lstStyle/>
          <a:p>
            <a:pPr marL="0" indent="0" algn="ctr">
              <a:buNone/>
            </a:pPr>
            <a:r>
              <a:rPr lang="en-US" sz="2800" b="1" dirty="0">
                <a:solidFill>
                  <a:srgbClr val="19D3C5"/>
                </a:solidFill>
              </a:rPr>
              <a:t>4-stage</a:t>
            </a:r>
            <a:endParaRPr lang="en-US" sz="2800" dirty="0"/>
          </a:p>
        </p:txBody>
      </p:sp>
      <p:sp>
        <p:nvSpPr>
          <p:cNvPr id="12" name="Text 10"/>
          <p:cNvSpPr/>
          <p:nvPr/>
        </p:nvSpPr>
        <p:spPr>
          <a:xfrm>
            <a:off x="3749040" y="1527048"/>
            <a:ext cx="1554480" cy="512064"/>
          </a:xfrm>
          <a:prstGeom prst="rect">
            <a:avLst/>
          </a:prstGeom>
          <a:noFill/>
          <a:ln/>
        </p:spPr>
        <p:txBody>
          <a:bodyPr wrap="square" lIns="0" tIns="0" rIns="0" bIns="0" rtlCol="0" anchor="t"/>
          <a:lstStyle/>
          <a:p>
            <a:pPr marL="0" indent="0" algn="ctr">
              <a:buNone/>
            </a:pPr>
            <a:r>
              <a:rPr lang="en-US" sz="1100" dirty="0">
                <a:solidFill>
                  <a:srgbClr val="E8F0FE"/>
                </a:solidFill>
              </a:rPr>
              <a:t>CV</a:t>
            </a:r>
            <a:endParaRPr lang="en-US" sz="1100" dirty="0"/>
          </a:p>
          <a:p>
            <a:pPr marL="0" indent="0" algn="ctr">
              <a:buNone/>
            </a:pPr>
            <a:r>
              <a:rPr lang="en-US" sz="1100" dirty="0">
                <a:solidFill>
                  <a:srgbClr val="E8F0FE"/>
                </a:solidFill>
              </a:rPr>
              <a:t>Pipeline</a:t>
            </a:r>
            <a:endParaRPr lang="en-US" sz="1100" dirty="0"/>
          </a:p>
        </p:txBody>
      </p:sp>
      <p:sp>
        <p:nvSpPr>
          <p:cNvPr id="13" name="Shape 11"/>
          <p:cNvSpPr/>
          <p:nvPr/>
        </p:nvSpPr>
        <p:spPr>
          <a:xfrm>
            <a:off x="5486400" y="822960"/>
            <a:ext cx="1554480" cy="1280160"/>
          </a:xfrm>
          <a:prstGeom prst="rect">
            <a:avLst/>
          </a:prstGeom>
          <a:solidFill>
            <a:srgbClr val="16305C"/>
          </a:solidFill>
          <a:ln w="12700">
            <a:solidFill>
              <a:srgbClr val="0E8F87"/>
            </a:solidFill>
            <a:prstDash val="solid"/>
          </a:ln>
          <a:effectLst>
            <a:outerShdw blurRad="101600" dist="25400" dir="8100000" algn="bl" rotWithShape="0">
              <a:srgbClr val="000000">
                <a:alpha val="18000"/>
              </a:srgbClr>
            </a:outerShdw>
          </a:effectLst>
        </p:spPr>
      </p:sp>
      <p:sp>
        <p:nvSpPr>
          <p:cNvPr id="14" name="Text 12"/>
          <p:cNvSpPr/>
          <p:nvPr/>
        </p:nvSpPr>
        <p:spPr>
          <a:xfrm>
            <a:off x="5486400" y="868680"/>
            <a:ext cx="1554480" cy="658368"/>
          </a:xfrm>
          <a:prstGeom prst="rect">
            <a:avLst/>
          </a:prstGeom>
          <a:noFill/>
          <a:ln/>
        </p:spPr>
        <p:txBody>
          <a:bodyPr wrap="square" lIns="0" tIns="0" rIns="0" bIns="0" rtlCol="0" anchor="ctr"/>
          <a:lstStyle/>
          <a:p>
            <a:pPr marL="0" indent="0" algn="ctr">
              <a:buNone/>
            </a:pPr>
            <a:r>
              <a:rPr lang="en-US" sz="2800" b="1" dirty="0">
                <a:solidFill>
                  <a:srgbClr val="19D3C5"/>
                </a:solidFill>
              </a:rPr>
              <a:t>2 roles</a:t>
            </a:r>
            <a:endParaRPr lang="en-US" sz="2800" dirty="0"/>
          </a:p>
        </p:txBody>
      </p:sp>
      <p:sp>
        <p:nvSpPr>
          <p:cNvPr id="15" name="Text 13"/>
          <p:cNvSpPr/>
          <p:nvPr/>
        </p:nvSpPr>
        <p:spPr>
          <a:xfrm>
            <a:off x="5486400" y="1527048"/>
            <a:ext cx="1554480" cy="512064"/>
          </a:xfrm>
          <a:prstGeom prst="rect">
            <a:avLst/>
          </a:prstGeom>
          <a:noFill/>
          <a:ln/>
        </p:spPr>
        <p:txBody>
          <a:bodyPr wrap="square" lIns="0" tIns="0" rIns="0" bIns="0" rtlCol="0" anchor="t"/>
          <a:lstStyle/>
          <a:p>
            <a:pPr marL="0" indent="0" algn="ctr">
              <a:buNone/>
            </a:pPr>
            <a:r>
              <a:rPr lang="en-US" sz="1100" dirty="0">
                <a:solidFill>
                  <a:srgbClr val="E8F0FE"/>
                </a:solidFill>
              </a:rPr>
              <a:t>Student +</a:t>
            </a:r>
            <a:endParaRPr lang="en-US" sz="1100" dirty="0"/>
          </a:p>
          <a:p>
            <a:pPr marL="0" indent="0" algn="ctr">
              <a:buNone/>
            </a:pPr>
            <a:r>
              <a:rPr lang="en-US" sz="1100" dirty="0">
                <a:solidFill>
                  <a:srgbClr val="E8F0FE"/>
                </a:solidFill>
              </a:rPr>
              <a:t>Faculty</a:t>
            </a:r>
            <a:endParaRPr lang="en-US" sz="1100" dirty="0"/>
          </a:p>
        </p:txBody>
      </p:sp>
      <p:sp>
        <p:nvSpPr>
          <p:cNvPr id="16" name="Shape 14"/>
          <p:cNvSpPr/>
          <p:nvPr/>
        </p:nvSpPr>
        <p:spPr>
          <a:xfrm>
            <a:off x="7223760" y="822960"/>
            <a:ext cx="1554480" cy="1280160"/>
          </a:xfrm>
          <a:prstGeom prst="rect">
            <a:avLst/>
          </a:prstGeom>
          <a:solidFill>
            <a:srgbClr val="16305C"/>
          </a:solidFill>
          <a:ln w="12700">
            <a:solidFill>
              <a:srgbClr val="0E8F87"/>
            </a:solidFill>
            <a:prstDash val="solid"/>
          </a:ln>
          <a:effectLst>
            <a:outerShdw blurRad="101600" dist="25400" dir="8100000" algn="bl" rotWithShape="0">
              <a:srgbClr val="000000">
                <a:alpha val="18000"/>
              </a:srgbClr>
            </a:outerShdw>
          </a:effectLst>
        </p:spPr>
      </p:sp>
      <p:sp>
        <p:nvSpPr>
          <p:cNvPr id="17" name="Text 15"/>
          <p:cNvSpPr/>
          <p:nvPr/>
        </p:nvSpPr>
        <p:spPr>
          <a:xfrm>
            <a:off x="7223760" y="868680"/>
            <a:ext cx="1554480" cy="658368"/>
          </a:xfrm>
          <a:prstGeom prst="rect">
            <a:avLst/>
          </a:prstGeom>
          <a:noFill/>
          <a:ln/>
        </p:spPr>
        <p:txBody>
          <a:bodyPr wrap="square" lIns="0" tIns="0" rIns="0" bIns="0" rtlCol="0" anchor="ctr"/>
          <a:lstStyle/>
          <a:p>
            <a:pPr marL="0" indent="0" algn="ctr">
              <a:buNone/>
            </a:pPr>
            <a:r>
              <a:rPr lang="en-US" sz="2800" b="1" dirty="0">
                <a:solidFill>
                  <a:srgbClr val="19D3C5"/>
                </a:solidFill>
              </a:rPr>
              <a:t>PWA</a:t>
            </a:r>
            <a:endParaRPr lang="en-US" sz="2800" dirty="0"/>
          </a:p>
        </p:txBody>
      </p:sp>
      <p:sp>
        <p:nvSpPr>
          <p:cNvPr id="18" name="Text 16"/>
          <p:cNvSpPr/>
          <p:nvPr/>
        </p:nvSpPr>
        <p:spPr>
          <a:xfrm>
            <a:off x="7223760" y="1527048"/>
            <a:ext cx="1554480" cy="512064"/>
          </a:xfrm>
          <a:prstGeom prst="rect">
            <a:avLst/>
          </a:prstGeom>
          <a:noFill/>
          <a:ln/>
        </p:spPr>
        <p:txBody>
          <a:bodyPr wrap="square" lIns="0" tIns="0" rIns="0" bIns="0" rtlCol="0" anchor="t"/>
          <a:lstStyle/>
          <a:p>
            <a:pPr marL="0" indent="0" algn="ctr">
              <a:buNone/>
            </a:pPr>
            <a:r>
              <a:rPr lang="en-US" sz="1100" dirty="0">
                <a:solidFill>
                  <a:srgbClr val="E8F0FE"/>
                </a:solidFill>
              </a:rPr>
              <a:t>Offline</a:t>
            </a:r>
            <a:endParaRPr lang="en-US" sz="1100" dirty="0"/>
          </a:p>
          <a:p>
            <a:pPr marL="0" indent="0" algn="ctr">
              <a:buNone/>
            </a:pPr>
            <a:r>
              <a:rPr lang="en-US" sz="1100" dirty="0">
                <a:solidFill>
                  <a:srgbClr val="E8F0FE"/>
                </a:solidFill>
              </a:rPr>
              <a:t>Capable</a:t>
            </a:r>
            <a:endParaRPr lang="en-US" sz="1100" dirty="0"/>
          </a:p>
        </p:txBody>
      </p:sp>
      <p:sp>
        <p:nvSpPr>
          <p:cNvPr id="19" name="Shape 17"/>
          <p:cNvSpPr/>
          <p:nvPr/>
        </p:nvSpPr>
        <p:spPr>
          <a:xfrm>
            <a:off x="274320" y="2286000"/>
            <a:ext cx="8595360" cy="594360"/>
          </a:xfrm>
          <a:prstGeom prst="rect">
            <a:avLst/>
          </a:prstGeom>
          <a:solidFill>
            <a:srgbClr val="16305C"/>
          </a:solidFill>
          <a:ln w="12700">
            <a:solidFill>
              <a:srgbClr val="1A3A8C"/>
            </a:solidFill>
            <a:prstDash val="solid"/>
          </a:ln>
        </p:spPr>
      </p:sp>
      <p:sp>
        <p:nvSpPr>
          <p:cNvPr id="20" name="Text 18"/>
          <p:cNvSpPr/>
          <p:nvPr/>
        </p:nvSpPr>
        <p:spPr>
          <a:xfrm>
            <a:off x="411480" y="2286000"/>
            <a:ext cx="1828800" cy="594360"/>
          </a:xfrm>
          <a:prstGeom prst="rect">
            <a:avLst/>
          </a:prstGeom>
          <a:noFill/>
          <a:ln/>
        </p:spPr>
        <p:txBody>
          <a:bodyPr wrap="square" lIns="0" tIns="0" rIns="0" bIns="0" rtlCol="0" anchor="ctr"/>
          <a:lstStyle/>
          <a:p>
            <a:pPr marL="0" indent="0">
              <a:buNone/>
            </a:pPr>
            <a:r>
              <a:rPr lang="en-US" sz="1200" b="1" dirty="0">
                <a:solidFill>
                  <a:srgbClr val="19D3C5"/>
                </a:solidFill>
              </a:rPr>
              <a:t>✅ CV Pipeline</a:t>
            </a:r>
            <a:endParaRPr lang="en-US" sz="1200" dirty="0"/>
          </a:p>
        </p:txBody>
      </p:sp>
      <p:sp>
        <p:nvSpPr>
          <p:cNvPr id="21" name="Text 19"/>
          <p:cNvSpPr/>
          <p:nvPr/>
        </p:nvSpPr>
        <p:spPr>
          <a:xfrm>
            <a:off x="2286000" y="2286000"/>
            <a:ext cx="6492240" cy="594360"/>
          </a:xfrm>
          <a:prstGeom prst="rect">
            <a:avLst/>
          </a:prstGeom>
          <a:noFill/>
          <a:ln/>
        </p:spPr>
        <p:txBody>
          <a:bodyPr wrap="square" lIns="0" tIns="0" rIns="0" bIns="0" rtlCol="0" anchor="ctr"/>
          <a:lstStyle/>
          <a:p>
            <a:pPr marL="0" indent="0">
              <a:buNone/>
            </a:pPr>
            <a:r>
              <a:rPr lang="en-US" sz="1100" dirty="0">
                <a:solidFill>
                  <a:srgbClr val="E8F0FE"/>
                </a:solidFill>
              </a:rPr>
              <a:t>Sobel edges and Otsu binarisation reliably highlight cyst margins and tooth outlines in OPG/periapical radiographs. Interactive slider demonstrates threshold-sensitivity to students in real time.</a:t>
            </a:r>
            <a:endParaRPr lang="en-US" sz="1100" dirty="0"/>
          </a:p>
        </p:txBody>
      </p:sp>
      <p:sp>
        <p:nvSpPr>
          <p:cNvPr id="22" name="Shape 20"/>
          <p:cNvSpPr/>
          <p:nvPr/>
        </p:nvSpPr>
        <p:spPr>
          <a:xfrm>
            <a:off x="274320" y="2953512"/>
            <a:ext cx="8595360" cy="594360"/>
          </a:xfrm>
          <a:prstGeom prst="rect">
            <a:avLst/>
          </a:prstGeom>
          <a:solidFill>
            <a:srgbClr val="0A1535"/>
          </a:solidFill>
          <a:ln w="12700">
            <a:solidFill>
              <a:srgbClr val="1A3A8C"/>
            </a:solidFill>
            <a:prstDash val="solid"/>
          </a:ln>
        </p:spPr>
      </p:sp>
      <p:sp>
        <p:nvSpPr>
          <p:cNvPr id="23" name="Text 21"/>
          <p:cNvSpPr/>
          <p:nvPr/>
        </p:nvSpPr>
        <p:spPr>
          <a:xfrm>
            <a:off x="411480" y="2953512"/>
            <a:ext cx="1828800" cy="594360"/>
          </a:xfrm>
          <a:prstGeom prst="rect">
            <a:avLst/>
          </a:prstGeom>
          <a:noFill/>
          <a:ln/>
        </p:spPr>
        <p:txBody>
          <a:bodyPr wrap="square" lIns="0" tIns="0" rIns="0" bIns="0" rtlCol="0" anchor="ctr"/>
          <a:lstStyle/>
          <a:p>
            <a:pPr marL="0" indent="0">
              <a:buNone/>
            </a:pPr>
            <a:r>
              <a:rPr lang="en-US" sz="1200" b="1" dirty="0">
                <a:solidFill>
                  <a:srgbClr val="19D3C5"/>
                </a:solidFill>
              </a:rPr>
              <a:t>✅ AR Performance</a:t>
            </a:r>
            <a:endParaRPr lang="en-US" sz="1200" dirty="0"/>
          </a:p>
        </p:txBody>
      </p:sp>
      <p:sp>
        <p:nvSpPr>
          <p:cNvPr id="24" name="Text 22"/>
          <p:cNvSpPr/>
          <p:nvPr/>
        </p:nvSpPr>
        <p:spPr>
          <a:xfrm>
            <a:off x="2286000" y="2953512"/>
            <a:ext cx="6492240" cy="594360"/>
          </a:xfrm>
          <a:prstGeom prst="rect">
            <a:avLst/>
          </a:prstGeom>
          <a:noFill/>
          <a:ln/>
        </p:spPr>
        <p:txBody>
          <a:bodyPr wrap="square" lIns="0" tIns="0" rIns="0" bIns="0" rtlCol="0" anchor="ctr"/>
          <a:lstStyle/>
          <a:p>
            <a:pPr marL="0" indent="0">
              <a:buNone/>
            </a:pPr>
            <a:r>
              <a:rPr lang="en-US" sz="1100" dirty="0">
                <a:solidFill>
                  <a:srgbClr val="E8F0FE"/>
                </a:solidFill>
              </a:rPr>
              <a:t>model-viewer renders all 3 NIH glTF models smoothly on Chrome 119+, Firefox 121+, Safari 17+. ARCore validated on Android 12 — true 1:1 scale projection confirmed.</a:t>
            </a:r>
            <a:endParaRPr lang="en-US" sz="1100" dirty="0"/>
          </a:p>
        </p:txBody>
      </p:sp>
      <p:sp>
        <p:nvSpPr>
          <p:cNvPr id="25" name="Shape 23"/>
          <p:cNvSpPr/>
          <p:nvPr/>
        </p:nvSpPr>
        <p:spPr>
          <a:xfrm>
            <a:off x="274320" y="3621024"/>
            <a:ext cx="8595360" cy="594360"/>
          </a:xfrm>
          <a:prstGeom prst="rect">
            <a:avLst/>
          </a:prstGeom>
          <a:solidFill>
            <a:srgbClr val="16305C"/>
          </a:solidFill>
          <a:ln w="12700">
            <a:solidFill>
              <a:srgbClr val="1A3A8C"/>
            </a:solidFill>
            <a:prstDash val="solid"/>
          </a:ln>
        </p:spPr>
      </p:sp>
      <p:sp>
        <p:nvSpPr>
          <p:cNvPr id="26" name="Text 24"/>
          <p:cNvSpPr/>
          <p:nvPr/>
        </p:nvSpPr>
        <p:spPr>
          <a:xfrm>
            <a:off x="411480" y="3621024"/>
            <a:ext cx="1828800" cy="594360"/>
          </a:xfrm>
          <a:prstGeom prst="rect">
            <a:avLst/>
          </a:prstGeom>
          <a:noFill/>
          <a:ln/>
        </p:spPr>
        <p:txBody>
          <a:bodyPr wrap="square" lIns="0" tIns="0" rIns="0" bIns="0" rtlCol="0" anchor="ctr"/>
          <a:lstStyle/>
          <a:p>
            <a:pPr marL="0" indent="0">
              <a:buNone/>
            </a:pPr>
            <a:r>
              <a:rPr lang="en-US" sz="1200" b="1" dirty="0">
                <a:solidFill>
                  <a:srgbClr val="19D3C5"/>
                </a:solidFill>
              </a:rPr>
              <a:t>✅ AI Chatbot</a:t>
            </a:r>
            <a:endParaRPr lang="en-US" sz="1200" dirty="0"/>
          </a:p>
        </p:txBody>
      </p:sp>
      <p:sp>
        <p:nvSpPr>
          <p:cNvPr id="27" name="Text 25"/>
          <p:cNvSpPr/>
          <p:nvPr/>
        </p:nvSpPr>
        <p:spPr>
          <a:xfrm>
            <a:off x="2286000" y="3621024"/>
            <a:ext cx="6492240" cy="594360"/>
          </a:xfrm>
          <a:prstGeom prst="rect">
            <a:avLst/>
          </a:prstGeom>
          <a:noFill/>
          <a:ln/>
        </p:spPr>
        <p:txBody>
          <a:bodyPr wrap="square" lIns="0" tIns="0" rIns="0" bIns="0" rtlCol="0" anchor="ctr"/>
          <a:lstStyle/>
          <a:p>
            <a:pPr marL="0" indent="0">
              <a:buNone/>
            </a:pPr>
            <a:r>
              <a:rPr lang="en-US" sz="1100" dirty="0">
                <a:solidFill>
                  <a:srgbClr val="E8F0FE"/>
                </a:solidFill>
              </a:rPr>
              <a:t>GPT-4o-mini provides accurate domain-constrained responses. Offline fallback correctly returns top-scored knowledge-base excerpt for 85%+ of test queries.</a:t>
            </a:r>
            <a:endParaRPr lang="en-US" sz="1100" dirty="0"/>
          </a:p>
        </p:txBody>
      </p:sp>
      <p:sp>
        <p:nvSpPr>
          <p:cNvPr id="28" name="Shape 26"/>
          <p:cNvSpPr/>
          <p:nvPr/>
        </p:nvSpPr>
        <p:spPr>
          <a:xfrm>
            <a:off x="274320" y="4288536"/>
            <a:ext cx="8595360" cy="594360"/>
          </a:xfrm>
          <a:prstGeom prst="rect">
            <a:avLst/>
          </a:prstGeom>
          <a:solidFill>
            <a:srgbClr val="0A1535"/>
          </a:solidFill>
          <a:ln w="12700">
            <a:solidFill>
              <a:srgbClr val="1A3A8C"/>
            </a:solidFill>
            <a:prstDash val="solid"/>
          </a:ln>
        </p:spPr>
      </p:sp>
      <p:sp>
        <p:nvSpPr>
          <p:cNvPr id="29" name="Text 27"/>
          <p:cNvSpPr/>
          <p:nvPr/>
        </p:nvSpPr>
        <p:spPr>
          <a:xfrm>
            <a:off x="411480" y="4288536"/>
            <a:ext cx="1828800" cy="594360"/>
          </a:xfrm>
          <a:prstGeom prst="rect">
            <a:avLst/>
          </a:prstGeom>
          <a:noFill/>
          <a:ln/>
        </p:spPr>
        <p:txBody>
          <a:bodyPr wrap="square" lIns="0" tIns="0" rIns="0" bIns="0" rtlCol="0" anchor="ctr"/>
          <a:lstStyle/>
          <a:p>
            <a:pPr marL="0" indent="0">
              <a:buNone/>
            </a:pPr>
            <a:r>
              <a:rPr lang="en-US" sz="1200" b="1" dirty="0">
                <a:solidFill>
                  <a:srgbClr val="19D3C5"/>
                </a:solidFill>
              </a:rPr>
              <a:t>✅ PDF→Quiz</a:t>
            </a:r>
            <a:endParaRPr lang="en-US" sz="1200" dirty="0"/>
          </a:p>
        </p:txBody>
      </p:sp>
      <p:sp>
        <p:nvSpPr>
          <p:cNvPr id="30" name="Text 28"/>
          <p:cNvSpPr/>
          <p:nvPr/>
        </p:nvSpPr>
        <p:spPr>
          <a:xfrm>
            <a:off x="2286000" y="4288536"/>
            <a:ext cx="6492240" cy="594360"/>
          </a:xfrm>
          <a:prstGeom prst="rect">
            <a:avLst/>
          </a:prstGeom>
          <a:noFill/>
          <a:ln/>
        </p:spPr>
        <p:txBody>
          <a:bodyPr wrap="square" lIns="0" tIns="0" rIns="0" bIns="0" rtlCol="0" anchor="ctr"/>
          <a:lstStyle/>
          <a:p>
            <a:pPr marL="0" indent="0">
              <a:buNone/>
            </a:pPr>
            <a:r>
              <a:rPr lang="en-US" sz="1100" dirty="0">
                <a:solidFill>
                  <a:srgbClr val="E8F0FE"/>
                </a:solidFill>
              </a:rPr>
              <a:t>Structured JSON output produces 8–20 valid MCQs from typical dental lecture chapter. Offline cloze heuristic provides reasonable fallback when API unavailable.</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D1B40"/>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6305C"/>
          </a:solidFill>
          <a:ln w="12700">
            <a:solidFill>
              <a:srgbClr val="16305C"/>
            </a:solidFill>
            <a:prstDash val="solid"/>
          </a:ln>
        </p:spPr>
      </p:sp>
      <p:sp>
        <p:nvSpPr>
          <p:cNvPr id="3" name="Text 1"/>
          <p:cNvSpPr/>
          <p:nvPr/>
        </p:nvSpPr>
        <p:spPr>
          <a:xfrm>
            <a:off x="365760" y="0"/>
            <a:ext cx="8412480" cy="594360"/>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App Screenshot — Quiz Engine</a:t>
            </a:r>
            <a:endParaRPr lang="en-US" sz="2200" dirty="0"/>
          </a:p>
        </p:txBody>
      </p:sp>
      <p:pic>
        <p:nvPicPr>
          <p:cNvPr id="4" name="Image 0" descr="/home/claude/screenshots/quiz.png"/>
          <p:cNvPicPr>
            <a:picLocks noChangeAspect="1"/>
          </p:cNvPicPr>
          <p:nvPr/>
        </p:nvPicPr>
        <p:blipFill>
          <a:blip r:embed="rId3"/>
          <a:stretch>
            <a:fillRect/>
          </a:stretch>
        </p:blipFill>
        <p:spPr>
          <a:xfrm>
            <a:off x="274320" y="685800"/>
            <a:ext cx="8595360" cy="4206240"/>
          </a:xfrm>
          <a:prstGeom prst="rect">
            <a:avLst/>
          </a:prstGeom>
          <a:effectLst>
            <a:outerShdw blurRad="101600" dist="25400" dir="8100000" algn="bl" rotWithShape="0">
              <a:srgbClr val="000000">
                <a:alpha val="18000"/>
              </a:srgbClr>
            </a:outerShdw>
          </a:effectLst>
        </p:spPr>
      </p:pic>
      <p:sp>
        <p:nvSpPr>
          <p:cNvPr id="5" name="Text 2"/>
          <p:cNvSpPr/>
          <p:nvPr/>
        </p:nvSpPr>
        <p:spPr>
          <a:xfrm>
            <a:off x="274320" y="4919472"/>
            <a:ext cx="8595360" cy="274320"/>
          </a:xfrm>
          <a:prstGeom prst="rect">
            <a:avLst/>
          </a:prstGeom>
          <a:noFill/>
          <a:ln/>
        </p:spPr>
        <p:txBody>
          <a:bodyPr wrap="square" lIns="0" tIns="0" rIns="0" bIns="0" rtlCol="0" anchor="ctr"/>
          <a:lstStyle/>
          <a:p>
            <a:pPr marL="0" indent="0" algn="ctr">
              <a:buNone/>
            </a:pPr>
            <a:r>
              <a:rPr lang="en-US" sz="1100" dirty="0">
                <a:solidFill>
                  <a:srgbClr val="19D3C5"/>
                </a:solidFill>
              </a:rPr>
              <a:t>Quiz engine: progress bar · countdown timer · 4-option MCQ · correct answer revealed in green with one-line explanation</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0F6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6305C"/>
          </a:solidFill>
          <a:ln w="12700">
            <a:solidFill>
              <a:srgbClr val="16305C"/>
            </a:solidFill>
            <a:prstDash val="solid"/>
          </a:ln>
        </p:spPr>
      </p:sp>
      <p:sp>
        <p:nvSpPr>
          <p:cNvPr id="3" name="Text 1"/>
          <p:cNvSpPr/>
          <p:nvPr/>
        </p:nvSpPr>
        <p:spPr>
          <a:xfrm>
            <a:off x="365760" y="0"/>
            <a:ext cx="8412480" cy="685800"/>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Related Work</a:t>
            </a:r>
            <a:endParaRPr lang="en-US" sz="2800" dirty="0"/>
          </a:p>
        </p:txBody>
      </p:sp>
      <p:sp>
        <p:nvSpPr>
          <p:cNvPr id="4" name="Shape 2"/>
          <p:cNvSpPr/>
          <p:nvPr/>
        </p:nvSpPr>
        <p:spPr>
          <a:xfrm>
            <a:off x="274320" y="822960"/>
            <a:ext cx="8595360" cy="768096"/>
          </a:xfrm>
          <a:prstGeom prst="rect">
            <a:avLst/>
          </a:prstGeom>
          <a:solidFill>
            <a:srgbClr val="FFFFFF"/>
          </a:solidFill>
          <a:ln w="12700">
            <a:solidFill>
              <a:srgbClr val="C0D5FF"/>
            </a:solidFill>
            <a:prstDash val="solid"/>
          </a:ln>
          <a:effectLst>
            <a:outerShdw blurRad="101600" dist="25400" dir="8100000" algn="bl" rotWithShape="0">
              <a:srgbClr val="000000">
                <a:alpha val="18000"/>
              </a:srgbClr>
            </a:outerShdw>
          </a:effectLst>
        </p:spPr>
      </p:sp>
      <p:sp>
        <p:nvSpPr>
          <p:cNvPr id="5" name="Shape 3"/>
          <p:cNvSpPr/>
          <p:nvPr/>
        </p:nvSpPr>
        <p:spPr>
          <a:xfrm>
            <a:off x="274320" y="822960"/>
            <a:ext cx="109728" cy="768096"/>
          </a:xfrm>
          <a:prstGeom prst="rect">
            <a:avLst/>
          </a:prstGeom>
          <a:solidFill>
            <a:srgbClr val="16305C"/>
          </a:solidFill>
          <a:ln w="12700">
            <a:solidFill>
              <a:srgbClr val="16305C"/>
            </a:solidFill>
            <a:prstDash val="solid"/>
          </a:ln>
        </p:spPr>
      </p:sp>
      <p:sp>
        <p:nvSpPr>
          <p:cNvPr id="6" name="Text 4"/>
          <p:cNvSpPr/>
          <p:nvPr/>
        </p:nvSpPr>
        <p:spPr>
          <a:xfrm>
            <a:off x="457200" y="859536"/>
            <a:ext cx="2560320" cy="347472"/>
          </a:xfrm>
          <a:prstGeom prst="rect">
            <a:avLst/>
          </a:prstGeom>
          <a:noFill/>
          <a:ln/>
        </p:spPr>
        <p:txBody>
          <a:bodyPr wrap="square" lIns="0" tIns="0" rIns="0" bIns="0" rtlCol="0" anchor="ctr"/>
          <a:lstStyle/>
          <a:p>
            <a:pPr marL="0" indent="0">
              <a:buNone/>
            </a:pPr>
            <a:r>
              <a:rPr lang="en-US" sz="1200" b="1" dirty="0">
                <a:solidFill>
                  <a:srgbClr val="16305C"/>
                </a:solidFill>
              </a:rPr>
              <a:t>Technology-Assisted Learning</a:t>
            </a:r>
            <a:endParaRPr lang="en-US" sz="1200" dirty="0"/>
          </a:p>
        </p:txBody>
      </p:sp>
      <p:sp>
        <p:nvSpPr>
          <p:cNvPr id="7" name="Text 5"/>
          <p:cNvSpPr/>
          <p:nvPr/>
        </p:nvSpPr>
        <p:spPr>
          <a:xfrm>
            <a:off x="457200" y="1225296"/>
            <a:ext cx="8229600" cy="347472"/>
          </a:xfrm>
          <a:prstGeom prst="rect">
            <a:avLst/>
          </a:prstGeom>
          <a:noFill/>
          <a:ln/>
        </p:spPr>
        <p:txBody>
          <a:bodyPr wrap="square" lIns="0" tIns="0" rIns="0" bIns="0" rtlCol="0" anchor="t"/>
          <a:lstStyle/>
          <a:p>
            <a:pPr marL="0" indent="0">
              <a:buNone/>
            </a:pPr>
            <a:r>
              <a:rPr lang="en-US" sz="1100" dirty="0">
                <a:solidFill>
                  <a:srgbClr val="334466"/>
                </a:solidFill>
              </a:rPr>
              <a:t>Iyer et al. (2020) — 78% of dental students prefer hybrid/digital formats for theory; Lakshmi et al. (2020) — virtual microscopy equals light microscope for oral pathology examination scores [Refs 5, 9].</a:t>
            </a:r>
            <a:endParaRPr lang="en-US" sz="1100" dirty="0"/>
          </a:p>
        </p:txBody>
      </p:sp>
      <p:sp>
        <p:nvSpPr>
          <p:cNvPr id="8" name="Shape 6"/>
          <p:cNvSpPr/>
          <p:nvPr/>
        </p:nvSpPr>
        <p:spPr>
          <a:xfrm>
            <a:off x="274320" y="1664208"/>
            <a:ext cx="8595360" cy="768096"/>
          </a:xfrm>
          <a:prstGeom prst="rect">
            <a:avLst/>
          </a:prstGeom>
          <a:solidFill>
            <a:srgbClr val="FFFFFF"/>
          </a:solidFill>
          <a:ln w="12700">
            <a:solidFill>
              <a:srgbClr val="C0D5FF"/>
            </a:solidFill>
            <a:prstDash val="solid"/>
          </a:ln>
          <a:effectLst>
            <a:outerShdw blurRad="101600" dist="25400" dir="8100000" algn="bl" rotWithShape="0">
              <a:srgbClr val="000000">
                <a:alpha val="18000"/>
              </a:srgbClr>
            </a:outerShdw>
          </a:effectLst>
        </p:spPr>
      </p:sp>
      <p:sp>
        <p:nvSpPr>
          <p:cNvPr id="9" name="Shape 7"/>
          <p:cNvSpPr/>
          <p:nvPr/>
        </p:nvSpPr>
        <p:spPr>
          <a:xfrm>
            <a:off x="274320" y="1664208"/>
            <a:ext cx="109728" cy="768096"/>
          </a:xfrm>
          <a:prstGeom prst="rect">
            <a:avLst/>
          </a:prstGeom>
          <a:solidFill>
            <a:srgbClr val="16305C"/>
          </a:solidFill>
          <a:ln w="12700">
            <a:solidFill>
              <a:srgbClr val="16305C"/>
            </a:solidFill>
            <a:prstDash val="solid"/>
          </a:ln>
        </p:spPr>
      </p:sp>
      <p:sp>
        <p:nvSpPr>
          <p:cNvPr id="10" name="Text 8"/>
          <p:cNvSpPr/>
          <p:nvPr/>
        </p:nvSpPr>
        <p:spPr>
          <a:xfrm>
            <a:off x="457200" y="1700784"/>
            <a:ext cx="2560320" cy="347472"/>
          </a:xfrm>
          <a:prstGeom prst="rect">
            <a:avLst/>
          </a:prstGeom>
          <a:noFill/>
          <a:ln/>
        </p:spPr>
        <p:txBody>
          <a:bodyPr wrap="square" lIns="0" tIns="0" rIns="0" bIns="0" rtlCol="0" anchor="ctr"/>
          <a:lstStyle/>
          <a:p>
            <a:pPr marL="0" indent="0">
              <a:buNone/>
            </a:pPr>
            <a:r>
              <a:rPr lang="en-US" sz="1200" b="1" dirty="0">
                <a:solidFill>
                  <a:srgbClr val="16305C"/>
                </a:solidFill>
              </a:rPr>
              <a:t>Virtual Simulations</a:t>
            </a:r>
            <a:endParaRPr lang="en-US" sz="1200" dirty="0"/>
          </a:p>
        </p:txBody>
      </p:sp>
      <p:sp>
        <p:nvSpPr>
          <p:cNvPr id="11" name="Text 9"/>
          <p:cNvSpPr/>
          <p:nvPr/>
        </p:nvSpPr>
        <p:spPr>
          <a:xfrm>
            <a:off x="457200" y="2066544"/>
            <a:ext cx="8229600" cy="347472"/>
          </a:xfrm>
          <a:prstGeom prst="rect">
            <a:avLst/>
          </a:prstGeom>
          <a:noFill/>
          <a:ln/>
        </p:spPr>
        <p:txBody>
          <a:bodyPr wrap="square" lIns="0" tIns="0" rIns="0" bIns="0" rtlCol="0" anchor="t"/>
          <a:lstStyle/>
          <a:p>
            <a:pPr marL="0" indent="0">
              <a:buNone/>
            </a:pPr>
            <a:r>
              <a:rPr lang="en-US" sz="1100" dirty="0">
                <a:solidFill>
                  <a:srgbClr val="334466"/>
                </a:solidFill>
              </a:rPr>
              <a:t>Kuchenbecker et al. (2010), Huang et al. (2020) — haptic/VR simulators reduce competency acquisition time by ~40%; construct validity demonstrated [Refs 3, 4, 6, 7].</a:t>
            </a:r>
            <a:endParaRPr lang="en-US" sz="1100" dirty="0"/>
          </a:p>
        </p:txBody>
      </p:sp>
      <p:sp>
        <p:nvSpPr>
          <p:cNvPr id="12" name="Shape 10"/>
          <p:cNvSpPr/>
          <p:nvPr/>
        </p:nvSpPr>
        <p:spPr>
          <a:xfrm>
            <a:off x="274320" y="2505456"/>
            <a:ext cx="8595360" cy="768096"/>
          </a:xfrm>
          <a:prstGeom prst="rect">
            <a:avLst/>
          </a:prstGeom>
          <a:solidFill>
            <a:srgbClr val="FFFFFF"/>
          </a:solidFill>
          <a:ln w="12700">
            <a:solidFill>
              <a:srgbClr val="C0D5FF"/>
            </a:solidFill>
            <a:prstDash val="solid"/>
          </a:ln>
          <a:effectLst>
            <a:outerShdw blurRad="101600" dist="25400" dir="8100000" algn="bl" rotWithShape="0">
              <a:srgbClr val="000000">
                <a:alpha val="18000"/>
              </a:srgbClr>
            </a:outerShdw>
          </a:effectLst>
        </p:spPr>
      </p:sp>
      <p:sp>
        <p:nvSpPr>
          <p:cNvPr id="13" name="Shape 11"/>
          <p:cNvSpPr/>
          <p:nvPr/>
        </p:nvSpPr>
        <p:spPr>
          <a:xfrm>
            <a:off x="274320" y="2505456"/>
            <a:ext cx="109728" cy="768096"/>
          </a:xfrm>
          <a:prstGeom prst="rect">
            <a:avLst/>
          </a:prstGeom>
          <a:solidFill>
            <a:srgbClr val="16305C"/>
          </a:solidFill>
          <a:ln w="12700">
            <a:solidFill>
              <a:srgbClr val="16305C"/>
            </a:solidFill>
            <a:prstDash val="solid"/>
          </a:ln>
        </p:spPr>
      </p:sp>
      <p:sp>
        <p:nvSpPr>
          <p:cNvPr id="14" name="Text 12"/>
          <p:cNvSpPr/>
          <p:nvPr/>
        </p:nvSpPr>
        <p:spPr>
          <a:xfrm>
            <a:off x="457200" y="2542032"/>
            <a:ext cx="2560320" cy="347472"/>
          </a:xfrm>
          <a:prstGeom prst="rect">
            <a:avLst/>
          </a:prstGeom>
          <a:noFill/>
          <a:ln/>
        </p:spPr>
        <p:txBody>
          <a:bodyPr wrap="square" lIns="0" tIns="0" rIns="0" bIns="0" rtlCol="0" anchor="ctr"/>
          <a:lstStyle/>
          <a:p>
            <a:pPr marL="0" indent="0">
              <a:buNone/>
            </a:pPr>
            <a:r>
              <a:rPr lang="en-US" sz="1200" b="1" dirty="0">
                <a:solidFill>
                  <a:srgbClr val="16305C"/>
                </a:solidFill>
              </a:rPr>
              <a:t>Gamification</a:t>
            </a:r>
            <a:endParaRPr lang="en-US" sz="1200" dirty="0"/>
          </a:p>
        </p:txBody>
      </p:sp>
      <p:sp>
        <p:nvSpPr>
          <p:cNvPr id="15" name="Text 13"/>
          <p:cNvSpPr/>
          <p:nvPr/>
        </p:nvSpPr>
        <p:spPr>
          <a:xfrm>
            <a:off x="457200" y="2907792"/>
            <a:ext cx="8229600" cy="347472"/>
          </a:xfrm>
          <a:prstGeom prst="rect">
            <a:avLst/>
          </a:prstGeom>
          <a:noFill/>
          <a:ln/>
        </p:spPr>
        <p:txBody>
          <a:bodyPr wrap="square" lIns="0" tIns="0" rIns="0" bIns="0" rtlCol="0" anchor="t"/>
          <a:lstStyle/>
          <a:p>
            <a:pPr marL="0" indent="0">
              <a:buNone/>
            </a:pPr>
            <a:r>
              <a:rPr lang="en-US" sz="1100" dirty="0">
                <a:solidFill>
                  <a:srgbClr val="334466"/>
                </a:solidFill>
              </a:rPr>
              <a:t>Hamari et al. (2014) meta-analysis — positive engagement effects in 79% of studies; Subhash &amp; Cudney (2018) — gamified dental quizzes improve 6-month knowledge retention [Refs 12, 15].</a:t>
            </a:r>
            <a:endParaRPr lang="en-US" sz="1100" dirty="0"/>
          </a:p>
        </p:txBody>
      </p:sp>
      <p:sp>
        <p:nvSpPr>
          <p:cNvPr id="16" name="Shape 14"/>
          <p:cNvSpPr/>
          <p:nvPr/>
        </p:nvSpPr>
        <p:spPr>
          <a:xfrm>
            <a:off x="274320" y="3346704"/>
            <a:ext cx="8595360" cy="768096"/>
          </a:xfrm>
          <a:prstGeom prst="rect">
            <a:avLst/>
          </a:prstGeom>
          <a:solidFill>
            <a:srgbClr val="FFFFFF"/>
          </a:solidFill>
          <a:ln w="12700">
            <a:solidFill>
              <a:srgbClr val="C0D5FF"/>
            </a:solidFill>
            <a:prstDash val="solid"/>
          </a:ln>
          <a:effectLst>
            <a:outerShdw blurRad="101600" dist="25400" dir="8100000" algn="bl" rotWithShape="0">
              <a:srgbClr val="000000">
                <a:alpha val="18000"/>
              </a:srgbClr>
            </a:outerShdw>
          </a:effectLst>
        </p:spPr>
      </p:sp>
      <p:sp>
        <p:nvSpPr>
          <p:cNvPr id="17" name="Shape 15"/>
          <p:cNvSpPr/>
          <p:nvPr/>
        </p:nvSpPr>
        <p:spPr>
          <a:xfrm>
            <a:off x="274320" y="3346704"/>
            <a:ext cx="109728" cy="768096"/>
          </a:xfrm>
          <a:prstGeom prst="rect">
            <a:avLst/>
          </a:prstGeom>
          <a:solidFill>
            <a:srgbClr val="16305C"/>
          </a:solidFill>
          <a:ln w="12700">
            <a:solidFill>
              <a:srgbClr val="16305C"/>
            </a:solidFill>
            <a:prstDash val="solid"/>
          </a:ln>
        </p:spPr>
      </p:sp>
      <p:sp>
        <p:nvSpPr>
          <p:cNvPr id="18" name="Text 16"/>
          <p:cNvSpPr/>
          <p:nvPr/>
        </p:nvSpPr>
        <p:spPr>
          <a:xfrm>
            <a:off x="457200" y="3383280"/>
            <a:ext cx="2560320" cy="347472"/>
          </a:xfrm>
          <a:prstGeom prst="rect">
            <a:avLst/>
          </a:prstGeom>
          <a:noFill/>
          <a:ln/>
        </p:spPr>
        <p:txBody>
          <a:bodyPr wrap="square" lIns="0" tIns="0" rIns="0" bIns="0" rtlCol="0" anchor="ctr"/>
          <a:lstStyle/>
          <a:p>
            <a:pPr marL="0" indent="0">
              <a:buNone/>
            </a:pPr>
            <a:r>
              <a:rPr lang="en-US" sz="1200" b="1" dirty="0">
                <a:solidFill>
                  <a:srgbClr val="16305C"/>
                </a:solidFill>
              </a:rPr>
              <a:t>Interactive / Multimodal Learning</a:t>
            </a:r>
            <a:endParaRPr lang="en-US" sz="1200" dirty="0"/>
          </a:p>
        </p:txBody>
      </p:sp>
      <p:sp>
        <p:nvSpPr>
          <p:cNvPr id="19" name="Text 17"/>
          <p:cNvSpPr/>
          <p:nvPr/>
        </p:nvSpPr>
        <p:spPr>
          <a:xfrm>
            <a:off x="457200" y="3749040"/>
            <a:ext cx="8229600" cy="347472"/>
          </a:xfrm>
          <a:prstGeom prst="rect">
            <a:avLst/>
          </a:prstGeom>
          <a:noFill/>
          <a:ln/>
        </p:spPr>
        <p:txBody>
          <a:bodyPr wrap="square" lIns="0" tIns="0" rIns="0" bIns="0" rtlCol="0" anchor="t"/>
          <a:lstStyle/>
          <a:p>
            <a:pPr marL="0" indent="0">
              <a:buNone/>
            </a:pPr>
            <a:r>
              <a:rPr lang="en-US" sz="1100" dirty="0">
                <a:solidFill>
                  <a:srgbClr val="334466"/>
                </a:solidFill>
              </a:rPr>
              <a:t>Mayer (2009) multimedia theory — combining text + 3D + interactive elements reduces extraneous cognitive load; Gerzina et al. (2005) — case-based interactive tutorials outperform lectures at 12-month follow-up [Refs 17, 18].</a:t>
            </a:r>
            <a:endParaRPr lang="en-US" sz="1100" dirty="0"/>
          </a:p>
        </p:txBody>
      </p:sp>
      <p:sp>
        <p:nvSpPr>
          <p:cNvPr id="20" name="Shape 18"/>
          <p:cNvSpPr/>
          <p:nvPr/>
        </p:nvSpPr>
        <p:spPr>
          <a:xfrm>
            <a:off x="274320" y="4187952"/>
            <a:ext cx="8595360" cy="768096"/>
          </a:xfrm>
          <a:prstGeom prst="rect">
            <a:avLst/>
          </a:prstGeom>
          <a:solidFill>
            <a:srgbClr val="FFFFFF"/>
          </a:solidFill>
          <a:ln w="12700">
            <a:solidFill>
              <a:srgbClr val="C0D5FF"/>
            </a:solidFill>
            <a:prstDash val="solid"/>
          </a:ln>
          <a:effectLst>
            <a:outerShdw blurRad="101600" dist="25400" dir="8100000" algn="bl" rotWithShape="0">
              <a:srgbClr val="000000">
                <a:alpha val="18000"/>
              </a:srgbClr>
            </a:outerShdw>
          </a:effectLst>
        </p:spPr>
      </p:sp>
      <p:sp>
        <p:nvSpPr>
          <p:cNvPr id="21" name="Shape 19"/>
          <p:cNvSpPr/>
          <p:nvPr/>
        </p:nvSpPr>
        <p:spPr>
          <a:xfrm>
            <a:off x="274320" y="4187952"/>
            <a:ext cx="109728" cy="768096"/>
          </a:xfrm>
          <a:prstGeom prst="rect">
            <a:avLst/>
          </a:prstGeom>
          <a:solidFill>
            <a:srgbClr val="16305C"/>
          </a:solidFill>
          <a:ln w="12700">
            <a:solidFill>
              <a:srgbClr val="16305C"/>
            </a:solidFill>
            <a:prstDash val="solid"/>
          </a:ln>
        </p:spPr>
      </p:sp>
      <p:sp>
        <p:nvSpPr>
          <p:cNvPr id="22" name="Text 20"/>
          <p:cNvSpPr/>
          <p:nvPr/>
        </p:nvSpPr>
        <p:spPr>
          <a:xfrm>
            <a:off x="457200" y="4224528"/>
            <a:ext cx="2560320" cy="347472"/>
          </a:xfrm>
          <a:prstGeom prst="rect">
            <a:avLst/>
          </a:prstGeom>
          <a:noFill/>
          <a:ln/>
        </p:spPr>
        <p:txBody>
          <a:bodyPr wrap="square" lIns="0" tIns="0" rIns="0" bIns="0" rtlCol="0" anchor="ctr"/>
          <a:lstStyle/>
          <a:p>
            <a:pPr marL="0" indent="0">
              <a:buNone/>
            </a:pPr>
            <a:r>
              <a:rPr lang="en-US" sz="1200" b="1" dirty="0">
                <a:solidFill>
                  <a:srgbClr val="16305C"/>
                </a:solidFill>
              </a:rPr>
              <a:t>AR in Dental Education</a:t>
            </a:r>
            <a:endParaRPr lang="en-US" sz="1200" dirty="0"/>
          </a:p>
        </p:txBody>
      </p:sp>
      <p:sp>
        <p:nvSpPr>
          <p:cNvPr id="23" name="Text 21"/>
          <p:cNvSpPr/>
          <p:nvPr/>
        </p:nvSpPr>
        <p:spPr>
          <a:xfrm>
            <a:off x="457200" y="4590288"/>
            <a:ext cx="8229600" cy="347472"/>
          </a:xfrm>
          <a:prstGeom prst="rect">
            <a:avLst/>
          </a:prstGeom>
          <a:noFill/>
          <a:ln/>
        </p:spPr>
        <p:txBody>
          <a:bodyPr wrap="square" lIns="0" tIns="0" rIns="0" bIns="0" rtlCol="0" anchor="t"/>
          <a:lstStyle/>
          <a:p>
            <a:pPr marL="0" indent="0">
              <a:buNone/>
            </a:pPr>
            <a:r>
              <a:rPr lang="en-US" sz="1100" dirty="0">
                <a:solidFill>
                  <a:srgbClr val="334466"/>
                </a:solidFill>
              </a:rPr>
              <a:t>Ferragina et al. (2022) RCT — AR anatomy significantly outperforms 2D illustrations on spatial reasoning (p&lt;0.01); Joda et al. (2019) — AR reduces implant placement learning curve ~40% [Refs 20, 21].</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D1B40"/>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E8F87"/>
          </a:solidFill>
          <a:ln w="12700">
            <a:solidFill>
              <a:srgbClr val="0E8F87"/>
            </a:solidFill>
            <a:prstDash val="solid"/>
          </a:ln>
        </p:spPr>
      </p:sp>
      <p:sp>
        <p:nvSpPr>
          <p:cNvPr id="3" name="Text 1"/>
          <p:cNvSpPr/>
          <p:nvPr/>
        </p:nvSpPr>
        <p:spPr>
          <a:xfrm>
            <a:off x="365760" y="0"/>
            <a:ext cx="8412480" cy="685800"/>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System Architecture</a:t>
            </a:r>
            <a:endParaRPr lang="en-US" sz="2800" dirty="0"/>
          </a:p>
        </p:txBody>
      </p:sp>
      <p:sp>
        <p:nvSpPr>
          <p:cNvPr id="4" name="Shape 2"/>
          <p:cNvSpPr/>
          <p:nvPr/>
        </p:nvSpPr>
        <p:spPr>
          <a:xfrm>
            <a:off x="274320" y="777240"/>
            <a:ext cx="6675120" cy="841248"/>
          </a:xfrm>
          <a:prstGeom prst="rect">
            <a:avLst/>
          </a:prstGeom>
          <a:solidFill>
            <a:srgbClr val="1A4080"/>
          </a:solidFill>
          <a:ln w="12700">
            <a:solidFill>
              <a:srgbClr val="2A4A8C"/>
            </a:solidFill>
            <a:prstDash val="solid"/>
          </a:ln>
        </p:spPr>
      </p:sp>
      <p:sp>
        <p:nvSpPr>
          <p:cNvPr id="5" name="Text 3"/>
          <p:cNvSpPr/>
          <p:nvPr/>
        </p:nvSpPr>
        <p:spPr>
          <a:xfrm>
            <a:off x="365760" y="813816"/>
            <a:ext cx="6492240" cy="292608"/>
          </a:xfrm>
          <a:prstGeom prst="rect">
            <a:avLst/>
          </a:prstGeom>
          <a:noFill/>
          <a:ln/>
        </p:spPr>
        <p:txBody>
          <a:bodyPr wrap="square" lIns="0" tIns="0" rIns="0" bIns="0" rtlCol="0" anchor="ctr"/>
          <a:lstStyle/>
          <a:p>
            <a:pPr marL="0" indent="0">
              <a:buNone/>
            </a:pPr>
            <a:r>
              <a:rPr lang="en-US" sz="1100" b="1" dirty="0">
                <a:solidFill>
                  <a:srgbClr val="19D3C5"/>
                </a:solidFill>
              </a:rPr>
              <a:t>PRESENTATION LAYER (React 18)</a:t>
            </a:r>
            <a:endParaRPr lang="en-US" sz="1100" dirty="0"/>
          </a:p>
        </p:txBody>
      </p:sp>
      <p:sp>
        <p:nvSpPr>
          <p:cNvPr id="6" name="Text 4"/>
          <p:cNvSpPr/>
          <p:nvPr/>
        </p:nvSpPr>
        <p:spPr>
          <a:xfrm>
            <a:off x="365760" y="1161288"/>
            <a:ext cx="6492240" cy="420624"/>
          </a:xfrm>
          <a:prstGeom prst="rect">
            <a:avLst/>
          </a:prstGeom>
          <a:noFill/>
          <a:ln/>
        </p:spPr>
        <p:txBody>
          <a:bodyPr wrap="square" lIns="0" tIns="0" rIns="0" bIns="0" rtlCol="0" anchor="t"/>
          <a:lstStyle/>
          <a:p>
            <a:pPr marL="0" indent="0">
              <a:buNone/>
            </a:pPr>
            <a:r>
              <a:rPr lang="en-US" sz="1000" dirty="0">
                <a:solidFill>
                  <a:srgbClr val="E8F0FE"/>
                </a:solidFill>
              </a:rPr>
              <a:t>Landing · Login · StudentHome · FacultyHome · Reading · ARView · Quiz · Results · Prompting · CVAnalysis · FacultyUpload · FacultyReports · Blog · Settings · UserGuide</a:t>
            </a:r>
            <a:endParaRPr lang="en-US" sz="1000" dirty="0"/>
          </a:p>
        </p:txBody>
      </p:sp>
      <p:sp>
        <p:nvSpPr>
          <p:cNvPr id="7" name="Shape 5"/>
          <p:cNvSpPr/>
          <p:nvPr/>
        </p:nvSpPr>
        <p:spPr>
          <a:xfrm>
            <a:off x="274320" y="1737360"/>
            <a:ext cx="6675120" cy="841248"/>
          </a:xfrm>
          <a:prstGeom prst="rect">
            <a:avLst/>
          </a:prstGeom>
          <a:solidFill>
            <a:srgbClr val="164D3A"/>
          </a:solidFill>
          <a:ln w="12700">
            <a:solidFill>
              <a:srgbClr val="2A4A8C"/>
            </a:solidFill>
            <a:prstDash val="solid"/>
          </a:ln>
        </p:spPr>
      </p:sp>
      <p:sp>
        <p:nvSpPr>
          <p:cNvPr id="8" name="Text 6"/>
          <p:cNvSpPr/>
          <p:nvPr/>
        </p:nvSpPr>
        <p:spPr>
          <a:xfrm>
            <a:off x="365760" y="1773936"/>
            <a:ext cx="6492240" cy="292608"/>
          </a:xfrm>
          <a:prstGeom prst="rect">
            <a:avLst/>
          </a:prstGeom>
          <a:noFill/>
          <a:ln/>
        </p:spPr>
        <p:txBody>
          <a:bodyPr wrap="square" lIns="0" tIns="0" rIns="0" bIns="0" rtlCol="0" anchor="ctr"/>
          <a:lstStyle/>
          <a:p>
            <a:pPr marL="0" indent="0">
              <a:buNone/>
            </a:pPr>
            <a:r>
              <a:rPr lang="en-US" sz="1100" b="1" dirty="0">
                <a:solidFill>
                  <a:srgbClr val="19D3C5"/>
                </a:solidFill>
              </a:rPr>
              <a:t>SERVICE LAYER (Utils)</a:t>
            </a:r>
            <a:endParaRPr lang="en-US" sz="1100" dirty="0"/>
          </a:p>
        </p:txBody>
      </p:sp>
      <p:sp>
        <p:nvSpPr>
          <p:cNvPr id="9" name="Text 7"/>
          <p:cNvSpPr/>
          <p:nvPr/>
        </p:nvSpPr>
        <p:spPr>
          <a:xfrm>
            <a:off x="365760" y="2121408"/>
            <a:ext cx="6492240" cy="420624"/>
          </a:xfrm>
          <a:prstGeom prst="rect">
            <a:avLst/>
          </a:prstGeom>
          <a:noFill/>
          <a:ln/>
        </p:spPr>
        <p:txBody>
          <a:bodyPr wrap="square" lIns="0" tIns="0" rIns="0" bIns="0" rtlCol="0" anchor="t"/>
          <a:lstStyle/>
          <a:p>
            <a:pPr marL="0" indent="0">
              <a:buNone/>
            </a:pPr>
            <a:r>
              <a:rPr lang="en-US" sz="1000" dirty="0">
                <a:solidFill>
                  <a:srgbClr val="E8F0FE"/>
                </a:solidFill>
              </a:rPr>
              <a:t>router.js · storage.js · openai.js · cv.js · pdf.js · quizGen.js · achievements.js</a:t>
            </a:r>
            <a:endParaRPr lang="en-US" sz="1000" dirty="0"/>
          </a:p>
        </p:txBody>
      </p:sp>
      <p:sp>
        <p:nvSpPr>
          <p:cNvPr id="10" name="Shape 8"/>
          <p:cNvSpPr/>
          <p:nvPr/>
        </p:nvSpPr>
        <p:spPr>
          <a:xfrm>
            <a:off x="274320" y="2697480"/>
            <a:ext cx="6675120" cy="841248"/>
          </a:xfrm>
          <a:prstGeom prst="rect">
            <a:avLst/>
          </a:prstGeom>
          <a:solidFill>
            <a:srgbClr val="2D1F60"/>
          </a:solidFill>
          <a:ln w="12700">
            <a:solidFill>
              <a:srgbClr val="2A4A8C"/>
            </a:solidFill>
            <a:prstDash val="solid"/>
          </a:ln>
        </p:spPr>
      </p:sp>
      <p:sp>
        <p:nvSpPr>
          <p:cNvPr id="11" name="Text 9"/>
          <p:cNvSpPr/>
          <p:nvPr/>
        </p:nvSpPr>
        <p:spPr>
          <a:xfrm>
            <a:off x="365760" y="2734056"/>
            <a:ext cx="6492240" cy="292608"/>
          </a:xfrm>
          <a:prstGeom prst="rect">
            <a:avLst/>
          </a:prstGeom>
          <a:noFill/>
          <a:ln/>
        </p:spPr>
        <p:txBody>
          <a:bodyPr wrap="square" lIns="0" tIns="0" rIns="0" bIns="0" rtlCol="0" anchor="ctr"/>
          <a:lstStyle/>
          <a:p>
            <a:pPr marL="0" indent="0">
              <a:buNone/>
            </a:pPr>
            <a:r>
              <a:rPr lang="en-US" sz="1100" b="1" dirty="0">
                <a:solidFill>
                  <a:srgbClr val="19D3C5"/>
                </a:solidFill>
              </a:rPr>
              <a:t>DATA LAYER</a:t>
            </a:r>
            <a:endParaRPr lang="en-US" sz="1100" dirty="0"/>
          </a:p>
        </p:txBody>
      </p:sp>
      <p:sp>
        <p:nvSpPr>
          <p:cNvPr id="12" name="Text 10"/>
          <p:cNvSpPr/>
          <p:nvPr/>
        </p:nvSpPr>
        <p:spPr>
          <a:xfrm>
            <a:off x="365760" y="3081528"/>
            <a:ext cx="6492240" cy="420624"/>
          </a:xfrm>
          <a:prstGeom prst="rect">
            <a:avLst/>
          </a:prstGeom>
          <a:noFill/>
          <a:ln/>
        </p:spPr>
        <p:txBody>
          <a:bodyPr wrap="square" lIns="0" tIns="0" rIns="0" bIns="0" rtlCol="0" anchor="t"/>
          <a:lstStyle/>
          <a:p>
            <a:pPr marL="0" indent="0">
              <a:buNone/>
            </a:pPr>
            <a:r>
              <a:rPr lang="en-US" sz="1000" dirty="0">
                <a:solidFill>
                  <a:srgbClr val="E8F0FE"/>
                </a:solidFill>
              </a:rPr>
              <a:t>topics.js (8 modules) · quizzes.js (60+ MCQs) · models.js (3D entries)</a:t>
            </a:r>
            <a:endParaRPr lang="en-US" sz="1000" dirty="0"/>
          </a:p>
        </p:txBody>
      </p:sp>
      <p:sp>
        <p:nvSpPr>
          <p:cNvPr id="13" name="Shape 11"/>
          <p:cNvSpPr/>
          <p:nvPr/>
        </p:nvSpPr>
        <p:spPr>
          <a:xfrm>
            <a:off x="274320" y="3657600"/>
            <a:ext cx="6675120" cy="841248"/>
          </a:xfrm>
          <a:prstGeom prst="rect">
            <a:avLst/>
          </a:prstGeom>
          <a:solidFill>
            <a:srgbClr val="3D2000"/>
          </a:solidFill>
          <a:ln w="12700">
            <a:solidFill>
              <a:srgbClr val="2A4A8C"/>
            </a:solidFill>
            <a:prstDash val="solid"/>
          </a:ln>
        </p:spPr>
      </p:sp>
      <p:sp>
        <p:nvSpPr>
          <p:cNvPr id="14" name="Text 12"/>
          <p:cNvSpPr/>
          <p:nvPr/>
        </p:nvSpPr>
        <p:spPr>
          <a:xfrm>
            <a:off x="365760" y="3694176"/>
            <a:ext cx="6492240" cy="292608"/>
          </a:xfrm>
          <a:prstGeom prst="rect">
            <a:avLst/>
          </a:prstGeom>
          <a:noFill/>
          <a:ln/>
        </p:spPr>
        <p:txBody>
          <a:bodyPr wrap="square" lIns="0" tIns="0" rIns="0" bIns="0" rtlCol="0" anchor="ctr"/>
          <a:lstStyle/>
          <a:p>
            <a:pPr marL="0" indent="0">
              <a:buNone/>
            </a:pPr>
            <a:r>
              <a:rPr lang="en-US" sz="1100" b="1" dirty="0">
                <a:solidFill>
                  <a:srgbClr val="19D3C5"/>
                </a:solidFill>
              </a:rPr>
              <a:t>BROWSER APIS</a:t>
            </a:r>
            <a:endParaRPr lang="en-US" sz="1100" dirty="0"/>
          </a:p>
        </p:txBody>
      </p:sp>
      <p:sp>
        <p:nvSpPr>
          <p:cNvPr id="15" name="Text 13"/>
          <p:cNvSpPr/>
          <p:nvPr/>
        </p:nvSpPr>
        <p:spPr>
          <a:xfrm>
            <a:off x="365760" y="4041648"/>
            <a:ext cx="6492240" cy="420624"/>
          </a:xfrm>
          <a:prstGeom prst="rect">
            <a:avLst/>
          </a:prstGeom>
          <a:noFill/>
          <a:ln/>
        </p:spPr>
        <p:txBody>
          <a:bodyPr wrap="square" lIns="0" tIns="0" rIns="0" bIns="0" rtlCol="0" anchor="t"/>
          <a:lstStyle/>
          <a:p>
            <a:pPr marL="0" indent="0">
              <a:buNone/>
            </a:pPr>
            <a:r>
              <a:rPr lang="en-US" sz="1000" dirty="0">
                <a:solidFill>
                  <a:srgbClr val="E8F0FE"/>
                </a:solidFill>
              </a:rPr>
              <a:t>localStorage · Canvas 2D · Service Worker · WebXR / ARCore · FileReader</a:t>
            </a:r>
            <a:endParaRPr lang="en-US" sz="1000" dirty="0"/>
          </a:p>
        </p:txBody>
      </p:sp>
      <p:sp>
        <p:nvSpPr>
          <p:cNvPr id="16" name="Shape 14"/>
          <p:cNvSpPr/>
          <p:nvPr/>
        </p:nvSpPr>
        <p:spPr>
          <a:xfrm>
            <a:off x="7132320" y="777240"/>
            <a:ext cx="1737360" cy="1801368"/>
          </a:xfrm>
          <a:prstGeom prst="rect">
            <a:avLst/>
          </a:prstGeom>
          <a:solidFill>
            <a:srgbClr val="1A0D35"/>
          </a:solidFill>
          <a:ln w="12700">
            <a:solidFill>
              <a:srgbClr val="7C4DFF"/>
            </a:solidFill>
            <a:prstDash val="solid"/>
          </a:ln>
        </p:spPr>
      </p:sp>
      <p:sp>
        <p:nvSpPr>
          <p:cNvPr id="17" name="Text 15"/>
          <p:cNvSpPr/>
          <p:nvPr/>
        </p:nvSpPr>
        <p:spPr>
          <a:xfrm>
            <a:off x="7132320" y="804672"/>
            <a:ext cx="1737360" cy="502920"/>
          </a:xfrm>
          <a:prstGeom prst="rect">
            <a:avLst/>
          </a:prstGeom>
          <a:noFill/>
          <a:ln/>
        </p:spPr>
        <p:txBody>
          <a:bodyPr wrap="square" lIns="0" tIns="0" rIns="0" bIns="0" rtlCol="0" anchor="ctr"/>
          <a:lstStyle/>
          <a:p>
            <a:pPr marL="0" indent="0" algn="ctr">
              <a:buNone/>
            </a:pPr>
            <a:r>
              <a:rPr lang="en-US" sz="1200" b="1" dirty="0">
                <a:solidFill>
                  <a:srgbClr val="7C4DFF"/>
                </a:solidFill>
              </a:rPr>
              <a:t>🌐</a:t>
            </a:r>
            <a:endParaRPr lang="en-US" sz="1200" dirty="0"/>
          </a:p>
          <a:p>
            <a:pPr marL="0" indent="0" algn="ctr">
              <a:buNone/>
            </a:pPr>
            <a:r>
              <a:rPr lang="en-US" sz="1200" b="1" dirty="0">
                <a:solidFill>
                  <a:srgbClr val="7C4DFF"/>
                </a:solidFill>
              </a:rPr>
              <a:t>External</a:t>
            </a:r>
            <a:endParaRPr lang="en-US" sz="1200" dirty="0"/>
          </a:p>
        </p:txBody>
      </p:sp>
      <p:sp>
        <p:nvSpPr>
          <p:cNvPr id="18" name="Text 16"/>
          <p:cNvSpPr/>
          <p:nvPr/>
        </p:nvSpPr>
        <p:spPr>
          <a:xfrm>
            <a:off x="7132320" y="1280160"/>
            <a:ext cx="1737360" cy="1261872"/>
          </a:xfrm>
          <a:prstGeom prst="rect">
            <a:avLst/>
          </a:prstGeom>
          <a:noFill/>
          <a:ln/>
        </p:spPr>
        <p:txBody>
          <a:bodyPr wrap="square" lIns="0" tIns="0" rIns="0" bIns="0" rtlCol="0" anchor="t"/>
          <a:lstStyle/>
          <a:p>
            <a:pPr marL="0" indent="0" algn="ctr">
              <a:buNone/>
            </a:pPr>
            <a:r>
              <a:rPr lang="en-US" sz="1100" dirty="0">
                <a:solidFill>
                  <a:srgbClr val="E8F0FE"/>
                </a:solidFill>
              </a:rPr>
              <a:t>OpenAI</a:t>
            </a:r>
            <a:endParaRPr lang="en-US" sz="1100" dirty="0"/>
          </a:p>
          <a:p>
            <a:pPr marL="0" indent="0" algn="ctr">
              <a:buNone/>
            </a:pPr>
            <a:r>
              <a:rPr lang="en-US" sz="1100" dirty="0">
                <a:solidFill>
                  <a:srgbClr val="E8F0FE"/>
                </a:solidFill>
              </a:rPr>
              <a:t>API</a:t>
            </a:r>
            <a:endParaRPr lang="en-US" sz="1100" dirty="0"/>
          </a:p>
          <a:p>
            <a:pPr marL="0" indent="0" algn="ctr">
              <a:buNone/>
            </a:pPr>
            <a:r>
              <a:rPr lang="en-US" sz="1100" dirty="0">
                <a:solidFill>
                  <a:srgbClr val="E8F0FE"/>
                </a:solidFill>
              </a:rPr>
              <a:t>+</a:t>
            </a:r>
            <a:endParaRPr lang="en-US" sz="1100" dirty="0"/>
          </a:p>
          <a:p>
            <a:pPr marL="0" indent="0" algn="ctr">
              <a:buNone/>
            </a:pPr>
            <a:r>
              <a:rPr lang="en-US" sz="1100" dirty="0">
                <a:solidFill>
                  <a:srgbClr val="E8F0FE"/>
                </a:solidFill>
              </a:rPr>
              <a:t>NIH 3D</a:t>
            </a:r>
            <a:endParaRPr lang="en-US" sz="1100" dirty="0"/>
          </a:p>
          <a:p>
            <a:pPr marL="0" indent="0" algn="ctr">
              <a:buNone/>
            </a:pPr>
            <a:r>
              <a:rPr lang="en-US" sz="1100" dirty="0">
                <a:solidFill>
                  <a:srgbClr val="E8F0FE"/>
                </a:solidFill>
              </a:rPr>
              <a:t>Models</a:t>
            </a:r>
            <a:endParaRPr lang="en-US" sz="1100" dirty="0"/>
          </a:p>
        </p:txBody>
      </p:sp>
      <p:sp>
        <p:nvSpPr>
          <p:cNvPr id="19" name="Shape 17"/>
          <p:cNvSpPr/>
          <p:nvPr/>
        </p:nvSpPr>
        <p:spPr>
          <a:xfrm>
            <a:off x="7132320" y="2761488"/>
            <a:ext cx="1737360" cy="777240"/>
          </a:xfrm>
          <a:prstGeom prst="rect">
            <a:avLst/>
          </a:prstGeom>
          <a:solidFill>
            <a:srgbClr val="001A35"/>
          </a:solidFill>
          <a:ln w="12700">
            <a:solidFill>
              <a:srgbClr val="19D3C5"/>
            </a:solidFill>
            <a:prstDash val="solid"/>
          </a:ln>
        </p:spPr>
      </p:sp>
      <p:sp>
        <p:nvSpPr>
          <p:cNvPr id="20" name="Text 18"/>
          <p:cNvSpPr/>
          <p:nvPr/>
        </p:nvSpPr>
        <p:spPr>
          <a:xfrm>
            <a:off x="7132320" y="2788920"/>
            <a:ext cx="1737360" cy="713232"/>
          </a:xfrm>
          <a:prstGeom prst="rect">
            <a:avLst/>
          </a:prstGeom>
          <a:noFill/>
          <a:ln/>
        </p:spPr>
        <p:txBody>
          <a:bodyPr wrap="square" lIns="0" tIns="0" rIns="0" bIns="0" rtlCol="0" anchor="ctr"/>
          <a:lstStyle/>
          <a:p>
            <a:pPr marL="0" indent="0" algn="ctr">
              <a:buNone/>
            </a:pPr>
            <a:r>
              <a:rPr lang="en-US" sz="1000" dirty="0">
                <a:solidFill>
                  <a:srgbClr val="19D3C5"/>
                </a:solidFill>
              </a:rPr>
              <a:t>🚀</a:t>
            </a:r>
            <a:endParaRPr lang="en-US" sz="1000" dirty="0"/>
          </a:p>
          <a:p>
            <a:pPr marL="0" indent="0" algn="ctr">
              <a:buNone/>
            </a:pPr>
            <a:r>
              <a:rPr lang="en-US" sz="1000" dirty="0">
                <a:solidFill>
                  <a:srgbClr val="19D3C5"/>
                </a:solidFill>
              </a:rPr>
              <a:t>GitHub Pages</a:t>
            </a:r>
            <a:endParaRPr lang="en-US" sz="1000" dirty="0"/>
          </a:p>
          <a:p>
            <a:pPr marL="0" indent="0" algn="ctr">
              <a:buNone/>
            </a:pPr>
            <a:r>
              <a:rPr lang="en-US" sz="1000" dirty="0">
                <a:solidFill>
                  <a:srgbClr val="19D3C5"/>
                </a:solidFill>
              </a:rPr>
              <a:t>Static CDN</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6305C"/>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1B40"/>
          </a:solidFill>
          <a:ln w="12700">
            <a:solidFill>
              <a:srgbClr val="0D1B40"/>
            </a:solidFill>
            <a:prstDash val="solid"/>
          </a:ln>
        </p:spPr>
      </p:sp>
      <p:sp>
        <p:nvSpPr>
          <p:cNvPr id="3" name="Text 1"/>
          <p:cNvSpPr/>
          <p:nvPr/>
        </p:nvSpPr>
        <p:spPr>
          <a:xfrm>
            <a:off x="365760" y="0"/>
            <a:ext cx="8412480" cy="685800"/>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Conclusion &amp; Future Work</a:t>
            </a:r>
            <a:endParaRPr lang="en-US" sz="2800" dirty="0"/>
          </a:p>
        </p:txBody>
      </p:sp>
      <p:sp>
        <p:nvSpPr>
          <p:cNvPr id="4" name="Shape 2"/>
          <p:cNvSpPr/>
          <p:nvPr/>
        </p:nvSpPr>
        <p:spPr>
          <a:xfrm>
            <a:off x="274320" y="804672"/>
            <a:ext cx="8595360" cy="1828800"/>
          </a:xfrm>
          <a:prstGeom prst="rect">
            <a:avLst/>
          </a:prstGeom>
          <a:solidFill>
            <a:srgbClr val="0D1B40"/>
          </a:solidFill>
          <a:ln w="12700">
            <a:solidFill>
              <a:srgbClr val="0E8F87"/>
            </a:solidFill>
            <a:prstDash val="solid"/>
          </a:ln>
          <a:effectLst>
            <a:outerShdw blurRad="101600" dist="25400" dir="8100000" algn="bl" rotWithShape="0">
              <a:srgbClr val="000000">
                <a:alpha val="18000"/>
              </a:srgbClr>
            </a:outerShdw>
          </a:effectLst>
        </p:spPr>
      </p:sp>
      <p:sp>
        <p:nvSpPr>
          <p:cNvPr id="5" name="Text 3"/>
          <p:cNvSpPr/>
          <p:nvPr/>
        </p:nvSpPr>
        <p:spPr>
          <a:xfrm>
            <a:off x="457200" y="841248"/>
            <a:ext cx="3657600" cy="384048"/>
          </a:xfrm>
          <a:prstGeom prst="rect">
            <a:avLst/>
          </a:prstGeom>
          <a:noFill/>
          <a:ln/>
        </p:spPr>
        <p:txBody>
          <a:bodyPr wrap="square" lIns="0" tIns="0" rIns="0" bIns="0" rtlCol="0" anchor="ctr"/>
          <a:lstStyle/>
          <a:p>
            <a:pPr marL="0" indent="0">
              <a:buNone/>
            </a:pPr>
            <a:r>
              <a:rPr lang="en-US" sz="1500" b="1" dirty="0">
                <a:solidFill>
                  <a:srgbClr val="19D3C5"/>
                </a:solidFill>
              </a:rPr>
              <a:t>✅  Conclusion</a:t>
            </a:r>
            <a:endParaRPr lang="en-US" sz="1500" dirty="0"/>
          </a:p>
        </p:txBody>
      </p:sp>
      <p:sp>
        <p:nvSpPr>
          <p:cNvPr id="6" name="Text 4"/>
          <p:cNvSpPr/>
          <p:nvPr/>
        </p:nvSpPr>
        <p:spPr>
          <a:xfrm>
            <a:off x="457200" y="1243584"/>
            <a:ext cx="8229600" cy="1280160"/>
          </a:xfrm>
          <a:prstGeom prst="rect">
            <a:avLst/>
          </a:prstGeom>
          <a:noFill/>
          <a:ln/>
        </p:spPr>
        <p:txBody>
          <a:bodyPr wrap="square" lIns="0" tIns="0" rIns="0" bIns="0" rtlCol="0" anchor="t"/>
          <a:lstStyle/>
          <a:p>
            <a:pPr marL="0" indent="0">
              <a:buNone/>
            </a:pPr>
            <a:r>
              <a:rPr lang="en-US" sz="1300" dirty="0">
                <a:solidFill>
                  <a:srgbClr val="E8F0FE"/>
                </a:solidFill>
              </a:rPr>
              <a:t>OralPath Learn demonstrates that professional-grade, AR+AI+CV integrated dental education can be delivered with zero server infrastructure using only modern web standards. All 10 feature objectives were met and the app is publicly deployed and functional on any modern browser or Android device.</a:t>
            </a:r>
            <a:endParaRPr lang="en-US" sz="1300" dirty="0"/>
          </a:p>
        </p:txBody>
      </p:sp>
      <p:sp>
        <p:nvSpPr>
          <p:cNvPr id="7" name="Text 5"/>
          <p:cNvSpPr/>
          <p:nvPr/>
        </p:nvSpPr>
        <p:spPr>
          <a:xfrm>
            <a:off x="457200" y="2834640"/>
            <a:ext cx="3657600" cy="347472"/>
          </a:xfrm>
          <a:prstGeom prst="rect">
            <a:avLst/>
          </a:prstGeom>
          <a:noFill/>
          <a:ln/>
        </p:spPr>
        <p:txBody>
          <a:bodyPr wrap="square" lIns="0" tIns="0" rIns="0" bIns="0" rtlCol="0" anchor="ctr"/>
          <a:lstStyle/>
          <a:p>
            <a:pPr marL="0" indent="0">
              <a:buNone/>
            </a:pPr>
            <a:r>
              <a:rPr lang="en-US" sz="1500" b="1" dirty="0">
                <a:solidFill>
                  <a:srgbClr val="FFB300"/>
                </a:solidFill>
              </a:rPr>
              <a:t>🔭  Future Work</a:t>
            </a:r>
            <a:endParaRPr lang="en-US" sz="1500" dirty="0"/>
          </a:p>
        </p:txBody>
      </p:sp>
      <p:sp>
        <p:nvSpPr>
          <p:cNvPr id="8" name="Shape 6"/>
          <p:cNvSpPr/>
          <p:nvPr/>
        </p:nvSpPr>
        <p:spPr>
          <a:xfrm>
            <a:off x="320040" y="3273552"/>
            <a:ext cx="201168" cy="201168"/>
          </a:xfrm>
          <a:prstGeom prst="ellipse">
            <a:avLst/>
          </a:prstGeom>
          <a:solidFill>
            <a:srgbClr val="FFB300"/>
          </a:solidFill>
          <a:ln w="12700">
            <a:solidFill>
              <a:srgbClr val="FFB300"/>
            </a:solidFill>
            <a:prstDash val="solid"/>
          </a:ln>
        </p:spPr>
      </p:sp>
      <p:sp>
        <p:nvSpPr>
          <p:cNvPr id="9" name="Text 7"/>
          <p:cNvSpPr/>
          <p:nvPr/>
        </p:nvSpPr>
        <p:spPr>
          <a:xfrm>
            <a:off x="594360" y="3246120"/>
            <a:ext cx="8229600" cy="292608"/>
          </a:xfrm>
          <a:prstGeom prst="rect">
            <a:avLst/>
          </a:prstGeom>
          <a:noFill/>
          <a:ln/>
        </p:spPr>
        <p:txBody>
          <a:bodyPr wrap="square" lIns="0" tIns="0" rIns="0" bIns="0" rtlCol="0" anchor="ctr"/>
          <a:lstStyle/>
          <a:p>
            <a:pPr marL="0" indent="0">
              <a:buNone/>
            </a:pPr>
            <a:r>
              <a:rPr lang="en-US" sz="1200" dirty="0">
                <a:solidFill>
                  <a:srgbClr val="E8F0FE"/>
                </a:solidFill>
              </a:rPr>
              <a:t>Expand to non-odontogenic oral mucosal lesions (leukoplakia, OSF, OSCC)</a:t>
            </a:r>
            <a:endParaRPr lang="en-US" sz="1200" dirty="0"/>
          </a:p>
        </p:txBody>
      </p:sp>
      <p:sp>
        <p:nvSpPr>
          <p:cNvPr id="10" name="Shape 8"/>
          <p:cNvSpPr/>
          <p:nvPr/>
        </p:nvSpPr>
        <p:spPr>
          <a:xfrm>
            <a:off x="320040" y="3611880"/>
            <a:ext cx="201168" cy="201168"/>
          </a:xfrm>
          <a:prstGeom prst="ellipse">
            <a:avLst/>
          </a:prstGeom>
          <a:solidFill>
            <a:srgbClr val="FFB300"/>
          </a:solidFill>
          <a:ln w="12700">
            <a:solidFill>
              <a:srgbClr val="FFB300"/>
            </a:solidFill>
            <a:prstDash val="solid"/>
          </a:ln>
        </p:spPr>
      </p:sp>
      <p:sp>
        <p:nvSpPr>
          <p:cNvPr id="11" name="Text 9"/>
          <p:cNvSpPr/>
          <p:nvPr/>
        </p:nvSpPr>
        <p:spPr>
          <a:xfrm>
            <a:off x="594360" y="3584448"/>
            <a:ext cx="8229600" cy="292608"/>
          </a:xfrm>
          <a:prstGeom prst="rect">
            <a:avLst/>
          </a:prstGeom>
          <a:noFill/>
          <a:ln/>
        </p:spPr>
        <p:txBody>
          <a:bodyPr wrap="square" lIns="0" tIns="0" rIns="0" bIns="0" rtlCol="0" anchor="ctr"/>
          <a:lstStyle/>
          <a:p>
            <a:pPr marL="0" indent="0">
              <a:buNone/>
            </a:pPr>
            <a:r>
              <a:rPr lang="en-US" sz="1200" dirty="0">
                <a:solidFill>
                  <a:srgbClr val="E8F0FE"/>
                </a:solidFill>
              </a:rPr>
              <a:t>Real-time class discussion via WebSockets</a:t>
            </a:r>
            <a:endParaRPr lang="en-US" sz="1200" dirty="0"/>
          </a:p>
        </p:txBody>
      </p:sp>
      <p:sp>
        <p:nvSpPr>
          <p:cNvPr id="12" name="Shape 10"/>
          <p:cNvSpPr/>
          <p:nvPr/>
        </p:nvSpPr>
        <p:spPr>
          <a:xfrm>
            <a:off x="320040" y="3950208"/>
            <a:ext cx="201168" cy="201168"/>
          </a:xfrm>
          <a:prstGeom prst="ellipse">
            <a:avLst/>
          </a:prstGeom>
          <a:solidFill>
            <a:srgbClr val="FFB300"/>
          </a:solidFill>
          <a:ln w="12700">
            <a:solidFill>
              <a:srgbClr val="FFB300"/>
            </a:solidFill>
            <a:prstDash val="solid"/>
          </a:ln>
        </p:spPr>
      </p:sp>
      <p:sp>
        <p:nvSpPr>
          <p:cNvPr id="13" name="Text 11"/>
          <p:cNvSpPr/>
          <p:nvPr/>
        </p:nvSpPr>
        <p:spPr>
          <a:xfrm>
            <a:off x="594360" y="3922776"/>
            <a:ext cx="8229600" cy="292608"/>
          </a:xfrm>
          <a:prstGeom prst="rect">
            <a:avLst/>
          </a:prstGeom>
          <a:noFill/>
          <a:ln/>
        </p:spPr>
        <p:txBody>
          <a:bodyPr wrap="square" lIns="0" tIns="0" rIns="0" bIns="0" rtlCol="0" anchor="ctr"/>
          <a:lstStyle/>
          <a:p>
            <a:pPr marL="0" indent="0">
              <a:buNone/>
            </a:pPr>
            <a:r>
              <a:rPr lang="en-US" sz="1200" dirty="0">
                <a:solidFill>
                  <a:srgbClr val="E8F0FE"/>
                </a:solidFill>
              </a:rPr>
              <a:t>Fine-tuned local LLM to replace offline quiz heuristic</a:t>
            </a:r>
            <a:endParaRPr lang="en-US" sz="1200" dirty="0"/>
          </a:p>
        </p:txBody>
      </p:sp>
      <p:sp>
        <p:nvSpPr>
          <p:cNvPr id="14" name="Shape 12"/>
          <p:cNvSpPr/>
          <p:nvPr/>
        </p:nvSpPr>
        <p:spPr>
          <a:xfrm>
            <a:off x="320040" y="4288536"/>
            <a:ext cx="201168" cy="201168"/>
          </a:xfrm>
          <a:prstGeom prst="ellipse">
            <a:avLst/>
          </a:prstGeom>
          <a:solidFill>
            <a:srgbClr val="FFB300"/>
          </a:solidFill>
          <a:ln w="12700">
            <a:solidFill>
              <a:srgbClr val="FFB300"/>
            </a:solidFill>
            <a:prstDash val="solid"/>
          </a:ln>
        </p:spPr>
      </p:sp>
      <p:sp>
        <p:nvSpPr>
          <p:cNvPr id="15" name="Text 13"/>
          <p:cNvSpPr/>
          <p:nvPr/>
        </p:nvSpPr>
        <p:spPr>
          <a:xfrm>
            <a:off x="594360" y="4261104"/>
            <a:ext cx="8229600" cy="292608"/>
          </a:xfrm>
          <a:prstGeom prst="rect">
            <a:avLst/>
          </a:prstGeom>
          <a:noFill/>
          <a:ln/>
        </p:spPr>
        <p:txBody>
          <a:bodyPr wrap="square" lIns="0" tIns="0" rIns="0" bIns="0" rtlCol="0" anchor="ctr"/>
          <a:lstStyle/>
          <a:p>
            <a:pPr marL="0" indent="0">
              <a:buNone/>
            </a:pPr>
            <a:r>
              <a:rPr lang="en-US" sz="1200" dirty="0">
                <a:solidFill>
                  <a:srgbClr val="E8F0FE"/>
                </a:solidFill>
              </a:rPr>
              <a:t>Formal RCT comparing OralPath Learn vs. conventional study materials</a:t>
            </a:r>
            <a:endParaRPr lang="en-US" sz="1200" dirty="0"/>
          </a:p>
        </p:txBody>
      </p:sp>
      <p:sp>
        <p:nvSpPr>
          <p:cNvPr id="16" name="Shape 14"/>
          <p:cNvSpPr/>
          <p:nvPr/>
        </p:nvSpPr>
        <p:spPr>
          <a:xfrm>
            <a:off x="320040" y="4626864"/>
            <a:ext cx="201168" cy="201168"/>
          </a:xfrm>
          <a:prstGeom prst="ellipse">
            <a:avLst/>
          </a:prstGeom>
          <a:solidFill>
            <a:srgbClr val="FFB300"/>
          </a:solidFill>
          <a:ln w="12700">
            <a:solidFill>
              <a:srgbClr val="FFB300"/>
            </a:solidFill>
            <a:prstDash val="solid"/>
          </a:ln>
        </p:spPr>
      </p:sp>
      <p:sp>
        <p:nvSpPr>
          <p:cNvPr id="17" name="Text 15"/>
          <p:cNvSpPr/>
          <p:nvPr/>
        </p:nvSpPr>
        <p:spPr>
          <a:xfrm>
            <a:off x="594360" y="4599432"/>
            <a:ext cx="8229600" cy="292608"/>
          </a:xfrm>
          <a:prstGeom prst="rect">
            <a:avLst/>
          </a:prstGeom>
          <a:noFill/>
          <a:ln/>
        </p:spPr>
        <p:txBody>
          <a:bodyPr wrap="square" lIns="0" tIns="0" rIns="0" bIns="0" rtlCol="0" anchor="ctr"/>
          <a:lstStyle/>
          <a:p>
            <a:pPr marL="0" indent="0">
              <a:buNone/>
            </a:pPr>
            <a:r>
              <a:rPr lang="en-US" sz="1200" dirty="0">
                <a:solidFill>
                  <a:srgbClr val="E8F0FE"/>
                </a:solidFill>
              </a:rPr>
              <a:t>USDZ conversion pipeline for native iOS AR (Quick Look)</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D1B4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D1B40"/>
          </a:solidFill>
          <a:ln w="12700">
            <a:solidFill>
              <a:srgbClr val="0D1B40"/>
            </a:solidFill>
            <a:prstDash val="solid"/>
          </a:ln>
        </p:spPr>
      </p:sp>
      <p:sp>
        <p:nvSpPr>
          <p:cNvPr id="3" name="Shape 1"/>
          <p:cNvSpPr/>
          <p:nvPr/>
        </p:nvSpPr>
        <p:spPr>
          <a:xfrm>
            <a:off x="0" y="0"/>
            <a:ext cx="164592" cy="5143500"/>
          </a:xfrm>
          <a:prstGeom prst="rect">
            <a:avLst/>
          </a:prstGeom>
          <a:solidFill>
            <a:srgbClr val="19D3C5"/>
          </a:solidFill>
          <a:ln w="12700">
            <a:solidFill>
              <a:srgbClr val="19D3C5"/>
            </a:solidFill>
            <a:prstDash val="solid"/>
          </a:ln>
        </p:spPr>
      </p:sp>
      <p:sp>
        <p:nvSpPr>
          <p:cNvPr id="4" name="Text 2"/>
          <p:cNvSpPr/>
          <p:nvPr/>
        </p:nvSpPr>
        <p:spPr>
          <a:xfrm>
            <a:off x="457200" y="914400"/>
            <a:ext cx="8229600" cy="1097280"/>
          </a:xfrm>
          <a:prstGeom prst="rect">
            <a:avLst/>
          </a:prstGeom>
          <a:noFill/>
          <a:ln/>
        </p:spPr>
        <p:txBody>
          <a:bodyPr wrap="square" lIns="0" tIns="0" rIns="0" bIns="0" rtlCol="0" anchor="ctr"/>
          <a:lstStyle/>
          <a:p>
            <a:pPr marL="0" indent="0" algn="ctr">
              <a:buNone/>
            </a:pPr>
            <a:r>
              <a:rPr lang="en-US" sz="6000" b="1" dirty="0">
                <a:solidFill>
                  <a:srgbClr val="19D3C5"/>
                </a:solidFill>
                <a:latin typeface="Cambria" pitchFamily="34" charset="0"/>
                <a:ea typeface="Cambria" pitchFamily="34" charset="-122"/>
                <a:cs typeface="Cambria" pitchFamily="34" charset="-120"/>
              </a:rPr>
              <a:t>Thank You!</a:t>
            </a:r>
            <a:endParaRPr lang="en-US" sz="6000" dirty="0"/>
          </a:p>
        </p:txBody>
      </p:sp>
      <p:sp>
        <p:nvSpPr>
          <p:cNvPr id="5" name="Text 3"/>
          <p:cNvSpPr/>
          <p:nvPr/>
        </p:nvSpPr>
        <p:spPr>
          <a:xfrm>
            <a:off x="457200" y="2011680"/>
            <a:ext cx="8229600" cy="502920"/>
          </a:xfrm>
          <a:prstGeom prst="rect">
            <a:avLst/>
          </a:prstGeom>
          <a:noFill/>
          <a:ln/>
        </p:spPr>
        <p:txBody>
          <a:bodyPr wrap="square" lIns="0" tIns="0" rIns="0" bIns="0" rtlCol="0" anchor="ctr"/>
          <a:lstStyle/>
          <a:p>
            <a:pPr marL="0" indent="0" algn="ctr">
              <a:buNone/>
            </a:pPr>
            <a:r>
              <a:rPr lang="en-US" sz="1600" dirty="0">
                <a:solidFill>
                  <a:srgbClr val="E8F0FE"/>
                </a:solidFill>
              </a:rPr>
              <a:t>OralPath Learn — Interactive Educational Application in Odontogenic Oral Pathology</a:t>
            </a:r>
            <a:endParaRPr lang="en-US" sz="1600" dirty="0"/>
          </a:p>
        </p:txBody>
      </p:sp>
      <p:sp>
        <p:nvSpPr>
          <p:cNvPr id="6" name="Shape 4"/>
          <p:cNvSpPr/>
          <p:nvPr/>
        </p:nvSpPr>
        <p:spPr>
          <a:xfrm>
            <a:off x="1828800" y="2697480"/>
            <a:ext cx="5486400" cy="54864"/>
          </a:xfrm>
          <a:prstGeom prst="rect">
            <a:avLst/>
          </a:prstGeom>
          <a:solidFill>
            <a:srgbClr val="0E8F87"/>
          </a:solidFill>
          <a:ln w="12700">
            <a:solidFill>
              <a:srgbClr val="0E8F87"/>
            </a:solidFill>
            <a:prstDash val="solid"/>
          </a:ln>
        </p:spPr>
      </p:sp>
      <p:sp>
        <p:nvSpPr>
          <p:cNvPr id="7" name="Text 5">
            <a:hlinkClick r:id="rId3"/>
          </p:cNvPr>
          <p:cNvSpPr/>
          <p:nvPr/>
        </p:nvSpPr>
        <p:spPr>
          <a:xfrm>
            <a:off x="457200" y="2926080"/>
            <a:ext cx="8229600" cy="411480"/>
          </a:xfrm>
          <a:prstGeom prst="rect">
            <a:avLst/>
          </a:prstGeom>
          <a:noFill/>
          <a:ln/>
        </p:spPr>
        <p:txBody>
          <a:bodyPr wrap="square" lIns="0" tIns="0" rIns="0" bIns="0" rtlCol="0" anchor="ctr"/>
          <a:lstStyle/>
          <a:p>
            <a:pPr marL="0" indent="0" algn="ctr">
              <a:buNone/>
            </a:pPr>
            <a:r>
              <a:rPr lang="en-US" sz="1400" u="sng" dirty="0">
                <a:solidFill>
                  <a:srgbClr val="19D3C5"/>
                </a:solidFill>
                <a:hlinkClick r:id="rId3">
                  <a:extLst>
                    <a:ext uri="{A12FA001-AC4F-418D-AE19-62706E023703}">
                      <ahyp:hlinkClr xmlns:ahyp="http://schemas.microsoft.com/office/drawing/2018/hyperlinkcolor" xmlns="" val="tx"/>
                    </a:ext>
                  </a:extLst>
                </a:hlinkClick>
              </a:rPr>
              <a:t>🌐  https://abdulrehman942004.github.io/OralPathApp/</a:t>
            </a:r>
            <a:endParaRPr lang="en-US" sz="1400" dirty="0"/>
          </a:p>
        </p:txBody>
      </p:sp>
      <p:sp>
        <p:nvSpPr>
          <p:cNvPr id="8" name="Text 6"/>
          <p:cNvSpPr/>
          <p:nvPr/>
        </p:nvSpPr>
        <p:spPr>
          <a:xfrm>
            <a:off x="457200" y="3474720"/>
            <a:ext cx="8229600" cy="347472"/>
          </a:xfrm>
          <a:prstGeom prst="rect">
            <a:avLst/>
          </a:prstGeom>
          <a:noFill/>
          <a:ln/>
        </p:spPr>
        <p:txBody>
          <a:bodyPr wrap="square" lIns="0" tIns="0" rIns="0" bIns="0" rtlCol="0" anchor="ctr"/>
          <a:lstStyle/>
          <a:p>
            <a:pPr marL="0" indent="0" algn="ctr">
              <a:buNone/>
            </a:pPr>
            <a:r>
              <a:rPr lang="en-US" sz="1300" dirty="0">
                <a:solidFill>
                  <a:srgbClr val="E8F0FE"/>
                </a:solidFill>
              </a:rPr>
              <a:t>Hussain Adnan (03-134222-033)   ·   Abdul Rehman (03-134222-005)   ·   Akif Aziz (03-134222-013)</a:t>
            </a:r>
            <a:endParaRPr lang="en-US" sz="1300" dirty="0"/>
          </a:p>
        </p:txBody>
      </p:sp>
      <p:sp>
        <p:nvSpPr>
          <p:cNvPr id="9" name="Text 7"/>
          <p:cNvSpPr/>
          <p:nvPr/>
        </p:nvSpPr>
        <p:spPr>
          <a:xfrm>
            <a:off x="457200" y="3840480"/>
            <a:ext cx="8229600" cy="320040"/>
          </a:xfrm>
          <a:prstGeom prst="rect">
            <a:avLst/>
          </a:prstGeom>
          <a:noFill/>
          <a:ln/>
        </p:spPr>
        <p:txBody>
          <a:bodyPr wrap="square" lIns="0" tIns="0" rIns="0" bIns="0" rtlCol="0" anchor="ctr"/>
          <a:lstStyle/>
          <a:p>
            <a:pPr marL="0" indent="0" algn="ctr">
              <a:buNone/>
            </a:pPr>
            <a:r>
              <a:rPr lang="en-US" sz="1200" dirty="0">
                <a:solidFill>
                  <a:srgbClr val="8899AA"/>
                </a:solidFill>
              </a:rPr>
              <a:t>BSCS-8A   ·   Computer Vision Assignment 3   ·   Bahria University Lahore</a:t>
            </a:r>
            <a:endParaRPr lang="en-US" sz="1200" dirty="0"/>
          </a:p>
        </p:txBody>
      </p:sp>
      <p:sp>
        <p:nvSpPr>
          <p:cNvPr id="10" name="Text 8"/>
          <p:cNvSpPr/>
          <p:nvPr/>
        </p:nvSpPr>
        <p:spPr>
          <a:xfrm>
            <a:off x="457200" y="4297680"/>
            <a:ext cx="8229600" cy="502920"/>
          </a:xfrm>
          <a:prstGeom prst="rect">
            <a:avLst/>
          </a:prstGeom>
          <a:noFill/>
          <a:ln/>
        </p:spPr>
        <p:txBody>
          <a:bodyPr wrap="square" lIns="0" tIns="0" rIns="0" bIns="0" rtlCol="0" anchor="ctr"/>
          <a:lstStyle/>
          <a:p>
            <a:pPr marL="0" indent="0" algn="ctr">
              <a:buNone/>
            </a:pPr>
            <a:r>
              <a:rPr lang="en-US" sz="2200" b="1" dirty="0">
                <a:solidFill>
                  <a:srgbClr val="E8F0FE"/>
                </a:solidFill>
              </a:rPr>
              <a:t>Questions?</a:t>
            </a:r>
            <a:endParaRPr lang="en-US" sz="2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53</TotalTime>
  <Words>1303</Words>
  <Application>Microsoft Office PowerPoint</Application>
  <PresentationFormat>On-screen Show (16:9)</PresentationFormat>
  <Paragraphs>248</Paragraphs>
  <Slides>18</Slides>
  <Notes>18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OralPath Learn — Interactive Educational Application in Odontogenic Oral Pathology</dc:title>
  <dc:subject>PptxGenJS Presentation</dc:subject>
  <dc:creator>Hussain Adnan, Abdul Rehman, Akif Aziz</dc:creator>
  <cp:lastModifiedBy>Moorche</cp:lastModifiedBy>
  <cp:revision>3</cp:revision>
  <dcterms:created xsi:type="dcterms:W3CDTF">2026-05-17T19:35:08Z</dcterms:created>
  <dcterms:modified xsi:type="dcterms:W3CDTF">2026-05-17T20:31:29Z</dcterms:modified>
</cp:coreProperties>
</file>